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1535041"/>
            <a:ext cx="4000500" cy="150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94" b="1" spc="-2" kern="0" dirty="0">
                <a:solidFill>
                  <a:srgbClr val="E5E5E5"/>
                </a:solidFill>
              </a:rPr>
              <a:t>基于深度有序回归的</a:t>
            </a:r>
            <a:pPr algn="l" indent="0" marL="0">
              <a:lnSpc>
                <a:spcPts val="4000"/>
              </a:lnSpc>
              <a:buNone/>
            </a:pPr>
            <a:r>
              <a:rPr lang="en-US" sz="3294" b="1" spc="-2" kern="0" dirty="0">
                <a:solidFill>
                  <a:srgbClr val="E5E5E5"/>
                </a:solidFill>
              </a:rPr>
              <a:t>
</a:t>
            </a:r>
            <a:pPr algn="l" indent="0" marL="0">
              <a:lnSpc>
                <a:spcPts val="4000"/>
              </a:lnSpc>
              <a:buNone/>
            </a:pPr>
            <a:r>
              <a:rPr lang="en-US" sz="3294" b="1" spc="-2" kern="0" dirty="0">
                <a:solidFill>
                  <a:srgbClr val="E5E5E5"/>
                </a:solidFill>
              </a:rPr>
              <a:t>钢板表面缺陷</a:t>
            </a:r>
            <a:pPr algn="l" indent="0" marL="0">
              <a:lnSpc>
                <a:spcPts val="4000"/>
              </a:lnSpc>
              <a:buNone/>
            </a:pPr>
            <a:r>
              <a:rPr lang="en-US" sz="3294" b="1" spc="-2" kern="0" dirty="0">
                <a:solidFill>
                  <a:srgbClr val="E5E5E5"/>
                </a:solidFill>
              </a:rPr>
              <a:t>
</a:t>
            </a:r>
            <a:pPr algn="l" indent="0" marL="0">
              <a:lnSpc>
                <a:spcPts val="4000"/>
              </a:lnSpc>
              <a:buNone/>
            </a:pPr>
            <a:r>
              <a:rPr lang="en-US" sz="3294" b="1" spc="-2" kern="0" dirty="0">
                <a:solidFill>
                  <a:srgbClr val="E5E5E5"/>
                </a:solidFill>
              </a:rPr>
              <a:t>分级研究进展</a:t>
            </a:r>
            <a:endParaRPr lang="en-US" sz="3294" dirty="0"/>
          </a:p>
        </p:txBody>
      </p:sp>
      <p:sp>
        <p:nvSpPr>
          <p:cNvPr id="4" name="Text 1"/>
          <p:cNvSpPr/>
          <p:nvPr/>
        </p:nvSpPr>
        <p:spPr>
          <a:xfrm>
            <a:off x="571500" y="4043363"/>
            <a:ext cx="4000500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spc="2" kern="0" dirty="0">
                <a:solidFill>
                  <a:srgbClr val="FF4500">
                    <a:alpha val="80000"/>
                  </a:srgbClr>
                </a:solidFill>
              </a:rPr>
              <a:t>Presenter</a:t>
            </a:r>
            <a:pPr algn="l" indent="0" marL="0">
              <a:lnSpc>
                <a:spcPts val="1200"/>
              </a:lnSpc>
              <a:buNone/>
            </a:pPr>
            <a:r>
              <a:rPr lang="en-US" sz="1269" dirty="0">
                <a:solidFill>
                  <a:srgbClr val="E5E5E5">
                    <a:alpha val="80000"/>
                  </a:srgbClr>
                </a:solidFill>
              </a:rPr>
              <a:t>李雲鹤</a:t>
            </a:r>
            <a:endParaRPr lang="en-US" sz="885" dirty="0"/>
          </a:p>
        </p:txBody>
      </p:sp>
      <p:sp>
        <p:nvSpPr>
          <p:cNvPr id="5" name="Text 2"/>
          <p:cNvSpPr/>
          <p:nvPr/>
        </p:nvSpPr>
        <p:spPr>
          <a:xfrm>
            <a:off x="571500" y="4364831"/>
            <a:ext cx="4000500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spc="2" kern="0" dirty="0">
                <a:solidFill>
                  <a:srgbClr val="FF4500">
                    <a:alpha val="80000"/>
                  </a:srgbClr>
                </a:solidFill>
              </a:rPr>
              <a:t>Date</a:t>
            </a:r>
            <a:pPr algn="l" indent="0" marL="0">
              <a:lnSpc>
                <a:spcPts val="1200"/>
              </a:lnSpc>
              <a:buNone/>
            </a:pPr>
            <a:r>
              <a:rPr lang="en-US" sz="1269" dirty="0">
                <a:solidFill>
                  <a:srgbClr val="E5E5E5">
                    <a:alpha val="80000"/>
                  </a:srgbClr>
                </a:solidFill>
              </a:rPr>
              <a:t>2026年1月29日</a:t>
            </a:r>
            <a:endParaRPr lang="en-US" sz="885" dirty="0"/>
          </a:p>
        </p:txBody>
      </p:sp>
      <p:sp>
        <p:nvSpPr>
          <p:cNvPr id="6" name="Shape 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7" name="Text 4"/>
          <p:cNvSpPr/>
          <p:nvPr/>
        </p:nvSpPr>
        <p:spPr>
          <a:xfrm>
            <a:off x="7459917" y="285750"/>
            <a:ext cx="1398333" cy="307181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spc="2" kern="0" dirty="0">
                <a:solidFill>
                  <a:srgbClr val="FF4500"/>
                </a:solidFill>
              </a:rPr>
              <a:t>WEEKLY REPORT</a:t>
            </a:r>
            <a:endParaRPr lang="en-US" sz="683" dirty="0"/>
          </a:p>
        </p:txBody>
      </p:sp>
      <p:sp>
        <p:nvSpPr>
          <p:cNvPr id="8" name="Text 5"/>
          <p:cNvSpPr/>
          <p:nvPr/>
        </p:nvSpPr>
        <p:spPr>
          <a:xfrm>
            <a:off x="5183488" y="1143000"/>
            <a:ext cx="3348996" cy="28575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0727" b="1" dirty="0">
                <a:solidFill>
                  <a:srgbClr val="FF4500">
                    <a:alpha val="10000"/>
                  </a:srgbClr>
                </a:solidFill>
              </a:rPr>
              <a:t>01</a:t>
            </a:r>
            <a:endParaRPr lang="en-US" sz="20727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5544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713231"/>
            <a:ext cx="8572500" cy="498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spc="-1" kern="0" dirty="0">
                <a:solidFill>
                  <a:srgbClr val="1A1A1A"/>
                </a:solidFill>
              </a:rPr>
              <a:t>本周工作摘要：多维并进的研究进展</a:t>
            </a:r>
            <a:endParaRPr lang="en-US" sz="2436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93711"/>
            <a:ext cx="214313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92969" y="1654420"/>
            <a:ext cx="714375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1A1A1A"/>
                </a:solidFill>
              </a:rPr>
              <a:t>文献调研</a:t>
            </a:r>
            <a:endParaRPr lang="en-US" sz="1193" dirty="0"/>
          </a:p>
        </p:txBody>
      </p:sp>
      <p:sp>
        <p:nvSpPr>
          <p:cNvPr id="8" name="Text 4"/>
          <p:cNvSpPr/>
          <p:nvPr/>
        </p:nvSpPr>
        <p:spPr>
          <a:xfrm>
            <a:off x="571500" y="2011607"/>
            <a:ext cx="3857625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深入研读《dlordinal: A Python package for deep ordinal classification》，掌握深度有序分类前沿方法，为后续实验奠定理论基础。</a:t>
            </a:r>
            <a:endParaRPr lang="en-US" sz="942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875" y="1693711"/>
            <a:ext cx="214313" cy="1714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036344" y="1654420"/>
            <a:ext cx="714375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1A1A1A"/>
                </a:solidFill>
              </a:rPr>
              <a:t>算法实现</a:t>
            </a:r>
            <a:endParaRPr lang="en-US" sz="1193" dirty="0"/>
          </a:p>
        </p:txBody>
      </p:sp>
      <p:sp>
        <p:nvSpPr>
          <p:cNvPr id="11" name="Text 6"/>
          <p:cNvSpPr/>
          <p:nvPr/>
        </p:nvSpPr>
        <p:spPr>
          <a:xfrm>
            <a:off x="4714875" y="2011607"/>
            <a:ext cx="385762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基于 dlordinal 库重构 ResNet18 训练流程，成功引入软标签策略（Soft Labelling），优化了模型对等级顺序的感知能力。</a:t>
            </a:r>
            <a:endParaRPr lang="en-US" sz="942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659693"/>
            <a:ext cx="214313" cy="17145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92969" y="3620402"/>
            <a:ext cx="714375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1A1A1A"/>
                </a:solidFill>
              </a:rPr>
              <a:t>实验验证</a:t>
            </a:r>
            <a:endParaRPr lang="en-US" sz="1193" dirty="0"/>
          </a:p>
        </p:txBody>
      </p:sp>
      <p:sp>
        <p:nvSpPr>
          <p:cNvPr id="14" name="Text 8"/>
          <p:cNvSpPr/>
          <p:nvPr/>
        </p:nvSpPr>
        <p:spPr>
          <a:xfrm>
            <a:off x="571500" y="3977590"/>
            <a:ext cx="385762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完成钢板数据集清洗与切片，有序分类任务初步收敛，平均绝对误差（MAE）小于 0.01，验证了算法在工业场景的有效性。</a:t>
            </a:r>
            <a:endParaRPr lang="en-US" sz="942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4875" y="3659693"/>
            <a:ext cx="214313" cy="17145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036344" y="3620402"/>
            <a:ext cx="714375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spc="1" kern="0" dirty="0">
                <a:solidFill>
                  <a:srgbClr val="1A1A1A"/>
                </a:solidFill>
              </a:rPr>
              <a:t>理论扩展</a:t>
            </a:r>
            <a:endParaRPr lang="en-US" sz="1193" dirty="0"/>
          </a:p>
        </p:txBody>
      </p:sp>
      <p:sp>
        <p:nvSpPr>
          <p:cNvPr id="17" name="Text 10"/>
          <p:cNvSpPr/>
          <p:nvPr/>
        </p:nvSpPr>
        <p:spPr>
          <a:xfrm>
            <a:off x="4714875" y="3977590"/>
            <a:ext cx="385762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初步调研 Vision Transformer (ViT) 架构及其在视觉任务中的应用潜力，思考其在长条形图像处理中的全局建模优势。</a:t>
            </a:r>
            <a:endParaRPr lang="en-US" sz="942" dirty="0"/>
          </a:p>
        </p:txBody>
      </p:sp>
      <p:sp>
        <p:nvSpPr>
          <p:cNvPr id="18" name="Text 11"/>
          <p:cNvSpPr/>
          <p:nvPr/>
        </p:nvSpPr>
        <p:spPr>
          <a:xfrm>
            <a:off x="8711133" y="4682728"/>
            <a:ext cx="14711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4500"/>
                </a:solidFill>
              </a:rPr>
              <a:t>02</a:t>
            </a:r>
            <a:endParaRPr lang="en-US" sz="88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5544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713231"/>
            <a:ext cx="8572500" cy="498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spc="-1" kern="0" dirty="0">
                <a:solidFill>
                  <a:srgbClr val="1A1A1A"/>
                </a:solidFill>
              </a:rPr>
              <a:t>核心痛点：传统分类忽略了缺陷等级的顺序性</a:t>
            </a:r>
            <a:endParaRPr lang="en-US" sz="2436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711570"/>
            <a:ext cx="142875" cy="17859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7250" y="1711570"/>
            <a:ext cx="405765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1A1A1A"/>
                </a:solidFill>
              </a:rPr>
              <a:t>传统分类局限</a:t>
            </a:r>
            <a:endParaRPr lang="en-US" sz="1090" dirty="0"/>
          </a:p>
        </p:txBody>
      </p:sp>
      <p:sp>
        <p:nvSpPr>
          <p:cNvPr id="8" name="Text 4"/>
          <p:cNvSpPr/>
          <p:nvPr/>
        </p:nvSpPr>
        <p:spPr>
          <a:xfrm>
            <a:off x="857250" y="1995534"/>
            <a:ext cx="4057650" cy="364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88" dirty="0">
                <a:solidFill>
                  <a:srgbClr val="333333"/>
                </a:solidFill>
              </a:rPr>
              <a:t>忽略了类别间天然存在的顺序关系，将“严重”误判为“轻微”与误判为“中度”的代价被等同化。</a:t>
            </a:r>
            <a:endParaRPr lang="en-US" sz="888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574178"/>
            <a:ext cx="178594" cy="17859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92969" y="2574178"/>
            <a:ext cx="4021931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1A1A1A"/>
                </a:solidFill>
              </a:rPr>
              <a:t>代价敏感性需求</a:t>
            </a:r>
            <a:endParaRPr lang="en-US" sz="1090" dirty="0"/>
          </a:p>
        </p:txBody>
      </p:sp>
      <p:sp>
        <p:nvSpPr>
          <p:cNvPr id="11" name="Text 6"/>
          <p:cNvSpPr/>
          <p:nvPr/>
        </p:nvSpPr>
        <p:spPr>
          <a:xfrm>
            <a:off x="892969" y="2858142"/>
            <a:ext cx="4021931" cy="364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88" dirty="0">
                <a:solidFill>
                  <a:srgbClr val="333333"/>
                </a:solidFill>
              </a:rPr>
              <a:t>工业场景中，跨级误判的代价远高于邻级误判，需要模型具备等级感知能力。</a:t>
            </a:r>
            <a:endParaRPr lang="en-US" sz="888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436786"/>
            <a:ext cx="142875" cy="17859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57250" y="3436786"/>
            <a:ext cx="3759566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1A1A1A"/>
                </a:solidFill>
              </a:rPr>
              <a:t>工具链缺失</a:t>
            </a:r>
            <a:endParaRPr lang="en-US" sz="1090" dirty="0"/>
          </a:p>
        </p:txBody>
      </p:sp>
      <p:sp>
        <p:nvSpPr>
          <p:cNvPr id="14" name="Text 8"/>
          <p:cNvSpPr/>
          <p:nvPr/>
        </p:nvSpPr>
        <p:spPr>
          <a:xfrm>
            <a:off x="857250" y="3720750"/>
            <a:ext cx="3759566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88" dirty="0">
                <a:solidFill>
                  <a:srgbClr val="333333"/>
                </a:solidFill>
              </a:rPr>
              <a:t>现有深度学习框架（如 PyTorch）缺乏统一且高效的有序回归工具库。</a:t>
            </a:r>
            <a:endParaRPr lang="en-US" sz="888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117228"/>
            <a:ext cx="107156" cy="17859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21531" y="4117228"/>
            <a:ext cx="4093369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1A1A1A"/>
                </a:solidFill>
              </a:rPr>
              <a:t>核心思想</a:t>
            </a:r>
            <a:endParaRPr lang="en-US" sz="1090" dirty="0"/>
          </a:p>
        </p:txBody>
      </p:sp>
      <p:sp>
        <p:nvSpPr>
          <p:cNvPr id="17" name="Text 10"/>
          <p:cNvSpPr/>
          <p:nvPr/>
        </p:nvSpPr>
        <p:spPr>
          <a:xfrm>
            <a:off x="821531" y="4401192"/>
            <a:ext cx="4093369" cy="364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88" dirty="0">
                <a:solidFill>
                  <a:srgbClr val="333333"/>
                </a:solidFill>
              </a:rPr>
              <a:t>利用有序信息约束学习过程，目标从单纯提高准确率转向最小化预测等级与真实等级的距离。</a:t>
            </a:r>
            <a:endParaRPr lang="en-US" sz="888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3525" y="1497257"/>
            <a:ext cx="3228975" cy="251460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6422231" y="4119014"/>
            <a:ext cx="1071563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spc="1" kern="0" dirty="0">
                <a:solidFill>
                  <a:srgbClr val="666666"/>
                </a:solidFill>
              </a:rPr>
              <a:t>典型钢板表面缺陷示例</a:t>
            </a:r>
            <a:endParaRPr lang="en-US" sz="727" dirty="0"/>
          </a:p>
        </p:txBody>
      </p:sp>
      <p:sp>
        <p:nvSpPr>
          <p:cNvPr id="20" name="Text 12"/>
          <p:cNvSpPr/>
          <p:nvPr/>
        </p:nvSpPr>
        <p:spPr>
          <a:xfrm>
            <a:off x="8711133" y="4682728"/>
            <a:ext cx="14711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4500"/>
                </a:solidFill>
              </a:rPr>
              <a:t>03</a:t>
            </a:r>
            <a:endParaRPr lang="en-US" sz="88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5544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713231"/>
            <a:ext cx="8572500" cy="498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spc="-1" kern="0" dirty="0">
                <a:solidFill>
                  <a:srgbClr val="E5E5E5"/>
                </a:solidFill>
              </a:rPr>
              <a:t>技术架构：dlordinal 库的深度集成</a:t>
            </a:r>
            <a:endParaRPr lang="en-US" sz="2436" dirty="0"/>
          </a:p>
        </p:txBody>
      </p:sp>
      <p:sp>
        <p:nvSpPr>
          <p:cNvPr id="6" name="Shape 3"/>
          <p:cNvSpPr/>
          <p:nvPr/>
        </p:nvSpPr>
        <p:spPr>
          <a:xfrm>
            <a:off x="571500" y="1497257"/>
            <a:ext cx="3943350" cy="3228975"/>
          </a:xfrm>
          <a:prstGeom prst="rect">
            <a:avLst/>
          </a:prstGeom>
          <a:solidFill>
            <a:srgbClr val="333333"/>
          </a:solidFill>
          <a:ln w="9144">
            <a:solidFill>
              <a:srgbClr val="44444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94" y="1675851"/>
            <a:ext cx="3571875" cy="28575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136356" y="1675851"/>
            <a:ext cx="343614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4500"/>
                </a:solidFill>
              </a:rPr>
              <a:t>损失函数创新</a:t>
            </a:r>
            <a:endParaRPr lang="en-US" sz="1090" dirty="0"/>
          </a:p>
        </p:txBody>
      </p:sp>
      <p:sp>
        <p:nvSpPr>
          <p:cNvPr id="9" name="Text 5"/>
          <p:cNvSpPr/>
          <p:nvPr/>
        </p:nvSpPr>
        <p:spPr>
          <a:xfrm>
            <a:off x="5136356" y="1974103"/>
            <a:ext cx="3436144" cy="388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8" dirty="0">
                <a:solidFill>
                  <a:srgbClr val="CCCCCC"/>
                </a:solidFill>
              </a:rPr>
              <a:t>引入 TriangularCrossEntropyLoss，专门针对预测偏差进行加权惩罚，强化模型对等级顺序的敏感度。</a:t>
            </a:r>
            <a:endParaRPr lang="en-US" sz="888" dirty="0"/>
          </a:p>
        </p:txBody>
      </p:sp>
      <p:sp>
        <p:nvSpPr>
          <p:cNvPr id="10" name="Text 6"/>
          <p:cNvSpPr/>
          <p:nvPr/>
        </p:nvSpPr>
        <p:spPr>
          <a:xfrm>
            <a:off x="5136356" y="2541305"/>
            <a:ext cx="343614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4500"/>
                </a:solidFill>
              </a:rPr>
              <a:t>软标签策略</a:t>
            </a:r>
            <a:endParaRPr lang="en-US" sz="1090" dirty="0"/>
          </a:p>
        </p:txBody>
      </p:sp>
      <p:sp>
        <p:nvSpPr>
          <p:cNvPr id="11" name="Text 7"/>
          <p:cNvSpPr/>
          <p:nvPr/>
        </p:nvSpPr>
        <p:spPr>
          <a:xfrm>
            <a:off x="5136356" y="2839557"/>
            <a:ext cx="3436144" cy="388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8" dirty="0">
                <a:solidFill>
                  <a:srgbClr val="CCCCCC"/>
                </a:solidFill>
              </a:rPr>
              <a:t>使用单峰分布（如三角形、Beta 分布）生成软标签替代 One-hot 编码，有效缓解过拟合。</a:t>
            </a:r>
            <a:endParaRPr lang="en-US" sz="888" dirty="0"/>
          </a:p>
        </p:txBody>
      </p:sp>
      <p:sp>
        <p:nvSpPr>
          <p:cNvPr id="12" name="Text 8"/>
          <p:cNvSpPr/>
          <p:nvPr/>
        </p:nvSpPr>
        <p:spPr>
          <a:xfrm>
            <a:off x="5136356" y="3406759"/>
            <a:ext cx="343614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4500"/>
                </a:solidFill>
              </a:rPr>
              <a:t>评价体系升级</a:t>
            </a:r>
            <a:endParaRPr lang="en-US" sz="1090" dirty="0"/>
          </a:p>
        </p:txBody>
      </p:sp>
      <p:sp>
        <p:nvSpPr>
          <p:cNvPr id="13" name="Text 9"/>
          <p:cNvSpPr/>
          <p:nvPr/>
        </p:nvSpPr>
        <p:spPr>
          <a:xfrm>
            <a:off x="5136356" y="3705011"/>
            <a:ext cx="3436144" cy="388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8" dirty="0">
                <a:solidFill>
                  <a:srgbClr val="CCCCCC"/>
                </a:solidFill>
              </a:rPr>
              <a:t>采用 MAE（平均绝对误差）和 MMAE 作为核心指标，精准量化等级预测的物理距离。</a:t>
            </a:r>
            <a:endParaRPr lang="en-US" sz="888" dirty="0"/>
          </a:p>
        </p:txBody>
      </p:sp>
      <p:sp>
        <p:nvSpPr>
          <p:cNvPr id="14" name="Text 10"/>
          <p:cNvSpPr/>
          <p:nvPr/>
        </p:nvSpPr>
        <p:spPr>
          <a:xfrm>
            <a:off x="5136356" y="4272214"/>
            <a:ext cx="343614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4500"/>
                </a:solidFill>
              </a:rPr>
              <a:t>模块化设计</a:t>
            </a:r>
            <a:endParaRPr lang="en-US" sz="1090" dirty="0"/>
          </a:p>
        </p:txBody>
      </p:sp>
      <p:sp>
        <p:nvSpPr>
          <p:cNvPr id="15" name="Text 11"/>
          <p:cNvSpPr/>
          <p:nvPr/>
        </p:nvSpPr>
        <p:spPr>
          <a:xfrm>
            <a:off x="5136356" y="4570465"/>
            <a:ext cx="3436144" cy="388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8" dirty="0">
                <a:solidFill>
                  <a:srgbClr val="CCCCCC"/>
                </a:solidFill>
              </a:rPr>
              <a:t>库提供的模块化接口极大简化了从标准分类到有序分类的迁移过程，提升开发效率。</a:t>
            </a:r>
            <a:endParaRPr lang="en-US" sz="888" dirty="0"/>
          </a:p>
        </p:txBody>
      </p:sp>
      <p:sp>
        <p:nvSpPr>
          <p:cNvPr id="16" name="Text 12"/>
          <p:cNvSpPr/>
          <p:nvPr/>
        </p:nvSpPr>
        <p:spPr>
          <a:xfrm>
            <a:off x="8711133" y="4682728"/>
            <a:ext cx="14711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4500"/>
                </a:solidFill>
              </a:rPr>
              <a:t>04</a:t>
            </a:r>
            <a:endParaRPr lang="en-US" sz="88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5544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713231"/>
            <a:ext cx="8572500" cy="498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spc="-1" kern="0" dirty="0">
                <a:solidFill>
                  <a:srgbClr val="E5E5E5"/>
                </a:solidFill>
              </a:rPr>
              <a:t>数据预处理：针对极长宽比图像的优化策略</a:t>
            </a:r>
            <a:endParaRPr lang="en-US" sz="2436" dirty="0"/>
          </a:p>
        </p:txBody>
      </p:sp>
      <p:sp>
        <p:nvSpPr>
          <p:cNvPr id="6" name="Text 3"/>
          <p:cNvSpPr/>
          <p:nvPr/>
        </p:nvSpPr>
        <p:spPr>
          <a:xfrm>
            <a:off x="571500" y="1561551"/>
            <a:ext cx="214312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spc="2" kern="0" dirty="0">
                <a:solidFill>
                  <a:srgbClr val="FF4500"/>
                </a:solidFill>
              </a:rPr>
              <a:t>Challenge Analysis</a:t>
            </a:r>
            <a:endParaRPr lang="en-US" sz="727" dirty="0"/>
          </a:p>
        </p:txBody>
      </p:sp>
      <p:sp>
        <p:nvSpPr>
          <p:cNvPr id="7" name="Text 4"/>
          <p:cNvSpPr/>
          <p:nvPr/>
        </p:nvSpPr>
        <p:spPr>
          <a:xfrm>
            <a:off x="2714625" y="1561551"/>
            <a:ext cx="5857875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E5E5E5"/>
                </a:solidFill>
              </a:rPr>
              <a:t>数据难点：极端几何特征</a:t>
            </a:r>
            <a:endParaRPr lang="en-US" sz="1397" dirty="0"/>
          </a:p>
        </p:txBody>
      </p:sp>
      <p:sp>
        <p:nvSpPr>
          <p:cNvPr id="8" name="Text 5"/>
          <p:cNvSpPr/>
          <p:nvPr/>
        </p:nvSpPr>
        <p:spPr>
          <a:xfrm>
            <a:off x="2714625" y="1893736"/>
            <a:ext cx="585787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CCCCCC"/>
                </a:solidFill>
              </a:rPr>
              <a:t>原始钢板图像具有极大的长宽比（W≈150, H≈16000），直接输入 CNN 网络会导致严重的纹理失真与特征丢失。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571500" y="2455190"/>
            <a:ext cx="214312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spc="2" kern="0" dirty="0">
                <a:solidFill>
                  <a:srgbClr val="FF4500"/>
                </a:solidFill>
              </a:rPr>
              <a:t>Padding Strategy</a:t>
            </a:r>
            <a:endParaRPr lang="en-US" sz="727" dirty="0"/>
          </a:p>
        </p:txBody>
      </p:sp>
      <p:sp>
        <p:nvSpPr>
          <p:cNvPr id="10" name="Text 7"/>
          <p:cNvSpPr/>
          <p:nvPr/>
        </p:nvSpPr>
        <p:spPr>
          <a:xfrm>
            <a:off x="2714625" y="2455190"/>
            <a:ext cx="5857875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E5E5E5"/>
                </a:solidFill>
              </a:rPr>
              <a:t>双侧补零与纹理保持</a:t>
            </a:r>
            <a:endParaRPr lang="en-US" sz="1397" dirty="0"/>
          </a:p>
        </p:txBody>
      </p:sp>
      <p:sp>
        <p:nvSpPr>
          <p:cNvPr id="11" name="Text 8"/>
          <p:cNvSpPr/>
          <p:nvPr/>
        </p:nvSpPr>
        <p:spPr>
          <a:xfrm>
            <a:off x="2714625" y="2787374"/>
            <a:ext cx="5857875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CCCCCC"/>
                </a:solidFill>
              </a:rPr>
              <a:t>对宽度不足 224 的图像进行双侧补零（Zero-padding），保持纹理比例，避免插值形变。</a:t>
            </a:r>
            <a:endParaRPr lang="en-US" sz="942" dirty="0"/>
          </a:p>
        </p:txBody>
      </p:sp>
      <p:sp>
        <p:nvSpPr>
          <p:cNvPr id="12" name="Shape 9"/>
          <p:cNvSpPr/>
          <p:nvPr/>
        </p:nvSpPr>
        <p:spPr>
          <a:xfrm>
            <a:off x="2714625" y="3035954"/>
            <a:ext cx="2351968" cy="262533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10"/>
          <p:cNvSpPr/>
          <p:nvPr/>
        </p:nvSpPr>
        <p:spPr>
          <a:xfrm>
            <a:off x="2714625" y="3035954"/>
            <a:ext cx="2351968" cy="262533"/>
          </a:xfrm>
          <a:prstGeom prst="rect">
            <a:avLst/>
          </a:prstGeom>
          <a:noFill/>
          <a:ln/>
        </p:spPr>
        <p:txBody>
          <a:bodyPr wrap="square" lIns="170053" tIns="127508" rIns="170053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FF4500"/>
                </a:solidFill>
              </a:rPr>
              <a:t>Target Size: 224 × 224 (Standard Input)</a:t>
            </a:r>
            <a:endParaRPr lang="en-US" sz="834" dirty="0"/>
          </a:p>
        </p:txBody>
      </p:sp>
      <p:sp>
        <p:nvSpPr>
          <p:cNvPr id="14" name="Text 11"/>
          <p:cNvSpPr/>
          <p:nvPr/>
        </p:nvSpPr>
        <p:spPr>
          <a:xfrm>
            <a:off x="571500" y="3448506"/>
            <a:ext cx="214312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spc="2" kern="0" dirty="0">
                <a:solidFill>
                  <a:srgbClr val="FF4500"/>
                </a:solidFill>
              </a:rPr>
              <a:t>Sliding Window</a:t>
            </a:r>
            <a:endParaRPr lang="en-US" sz="727" dirty="0"/>
          </a:p>
        </p:txBody>
      </p:sp>
      <p:sp>
        <p:nvSpPr>
          <p:cNvPr id="15" name="Text 12"/>
          <p:cNvSpPr/>
          <p:nvPr/>
        </p:nvSpPr>
        <p:spPr>
          <a:xfrm>
            <a:off x="2714625" y="3448506"/>
            <a:ext cx="5857875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E5E5E5"/>
                </a:solidFill>
              </a:rPr>
              <a:t>滑动窗口切片 (Patching)</a:t>
            </a:r>
            <a:endParaRPr lang="en-US" sz="1397" dirty="0"/>
          </a:p>
        </p:txBody>
      </p:sp>
      <p:sp>
        <p:nvSpPr>
          <p:cNvPr id="16" name="Text 13"/>
          <p:cNvSpPr/>
          <p:nvPr/>
        </p:nvSpPr>
        <p:spPr>
          <a:xfrm>
            <a:off x="2714625" y="3780690"/>
            <a:ext cx="5857875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CCCCCC"/>
                </a:solidFill>
              </a:rPr>
              <a:t>在高度方向进行滑动切片，步长（Stride）设为 112，生成标准 Patch 序列，确保缺陷特征的连续性。</a:t>
            </a:r>
            <a:endParaRPr lang="en-US" sz="942" dirty="0"/>
          </a:p>
        </p:txBody>
      </p:sp>
      <p:sp>
        <p:nvSpPr>
          <p:cNvPr id="17" name="Text 14"/>
          <p:cNvSpPr/>
          <p:nvPr/>
        </p:nvSpPr>
        <p:spPr>
          <a:xfrm>
            <a:off x="571500" y="4136427"/>
            <a:ext cx="214312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spc="2" kern="0" dirty="0">
                <a:solidFill>
                  <a:srgbClr val="FF4500"/>
                </a:solidFill>
              </a:rPr>
              <a:t>Data Partition</a:t>
            </a:r>
            <a:endParaRPr lang="en-US" sz="727" dirty="0"/>
          </a:p>
        </p:txBody>
      </p:sp>
      <p:sp>
        <p:nvSpPr>
          <p:cNvPr id="18" name="Text 15"/>
          <p:cNvSpPr/>
          <p:nvPr/>
        </p:nvSpPr>
        <p:spPr>
          <a:xfrm>
            <a:off x="2714625" y="4136427"/>
            <a:ext cx="5857875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E5E5E5"/>
                </a:solidFill>
              </a:rPr>
              <a:t>数据集划分与验证</a:t>
            </a:r>
            <a:endParaRPr lang="en-US" sz="1397" dirty="0"/>
          </a:p>
        </p:txBody>
      </p:sp>
      <p:sp>
        <p:nvSpPr>
          <p:cNvPr id="19" name="Text 16"/>
          <p:cNvSpPr/>
          <p:nvPr/>
        </p:nvSpPr>
        <p:spPr>
          <a:xfrm>
            <a:off x="2714625" y="4468611"/>
            <a:ext cx="5857875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942" dirty="0">
                <a:solidFill>
                  <a:srgbClr val="CCCCCC"/>
                </a:solidFill>
              </a:rPr>
              <a:t>严格执行 8:2 的 Train/Val 物理划分，确保验证结果的客观性，避免数据泄露。</a:t>
            </a:r>
            <a:endParaRPr lang="en-US" sz="942" dirty="0"/>
          </a:p>
        </p:txBody>
      </p:sp>
      <p:sp>
        <p:nvSpPr>
          <p:cNvPr id="20" name="Text 17"/>
          <p:cNvSpPr/>
          <p:nvPr/>
        </p:nvSpPr>
        <p:spPr>
          <a:xfrm>
            <a:off x="8711133" y="4682728"/>
            <a:ext cx="14711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4500"/>
                </a:solidFill>
              </a:rPr>
              <a:t>05</a:t>
            </a:r>
            <a:endParaRPr lang="en-US" sz="88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5544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713231"/>
            <a:ext cx="8572500" cy="498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spc="-1" kern="0" dirty="0">
                <a:solidFill>
                  <a:srgbClr val="1A1A1A"/>
                </a:solidFill>
              </a:rPr>
              <a:t>模型设计：ResNet-18 的有序化改造</a:t>
            </a:r>
            <a:endParaRPr lang="en-US" sz="2436" dirty="0"/>
          </a:p>
        </p:txBody>
      </p:sp>
      <p:sp>
        <p:nvSpPr>
          <p:cNvPr id="6" name="Text 3"/>
          <p:cNvSpPr/>
          <p:nvPr/>
        </p:nvSpPr>
        <p:spPr>
          <a:xfrm>
            <a:off x="571500" y="1733001"/>
            <a:ext cx="4247294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4500"/>
                </a:solidFill>
              </a:rPr>
              <a:t>Backbone 选择</a:t>
            </a:r>
            <a:endParaRPr lang="en-US" sz="987" dirty="0"/>
          </a:p>
        </p:txBody>
      </p:sp>
      <p:sp>
        <p:nvSpPr>
          <p:cNvPr id="7" name="Text 4"/>
          <p:cNvSpPr/>
          <p:nvPr/>
        </p:nvSpPr>
        <p:spPr>
          <a:xfrm>
            <a:off x="571500" y="1975889"/>
            <a:ext cx="4247294" cy="339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3333"/>
                </a:solidFill>
              </a:rPr>
              <a:t>采用在 ImageNet 上预训练的 </a:t>
            </a:r>
            <a:pPr algn="l" indent="0" marL="0">
              <a:lnSpc>
                <a:spcPts val="1300"/>
              </a:lnSpc>
              <a:buNone/>
            </a:pPr>
            <a:r>
              <a:rPr lang="en-US" sz="780" dirty="0">
                <a:solidFill>
                  <a:srgbClr val="E5E5E5"/>
                </a:solidFill>
              </a:rPr>
              <a:t>ResNet-18</a:t>
            </a:r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3333"/>
                </a:solidFill>
              </a:rPr>
              <a:t>，利用其强大的特征提取能力作为缺</a:t>
            </a:r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3333"/>
                </a:solidFill>
              </a:rPr>
              <a:t>陷检测的基础。</a:t>
            </a:r>
            <a:endParaRPr lang="en-US" sz="888" dirty="0"/>
          </a:p>
        </p:txBody>
      </p:sp>
      <p:sp>
        <p:nvSpPr>
          <p:cNvPr id="8" name="Text 5"/>
          <p:cNvSpPr/>
          <p:nvPr/>
        </p:nvSpPr>
        <p:spPr>
          <a:xfrm>
            <a:off x="571500" y="2551630"/>
            <a:ext cx="4247294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4500"/>
                </a:solidFill>
              </a:rPr>
              <a:t>输出层改进</a:t>
            </a:r>
            <a:endParaRPr lang="en-US" sz="987" dirty="0"/>
          </a:p>
        </p:txBody>
      </p:sp>
      <p:sp>
        <p:nvSpPr>
          <p:cNvPr id="9" name="Text 6"/>
          <p:cNvSpPr/>
          <p:nvPr/>
        </p:nvSpPr>
        <p:spPr>
          <a:xfrm>
            <a:off x="571500" y="2794518"/>
            <a:ext cx="4247294" cy="339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3333"/>
                </a:solidFill>
              </a:rPr>
              <a:t>修改全连接层为 4 分类输出，精准对应缺陷等级 1-4，为有序回归提供结构支撑。</a:t>
            </a:r>
            <a:endParaRPr lang="en-US" sz="888" dirty="0"/>
          </a:p>
        </p:txBody>
      </p:sp>
      <p:sp>
        <p:nvSpPr>
          <p:cNvPr id="10" name="Text 7"/>
          <p:cNvSpPr/>
          <p:nvPr/>
        </p:nvSpPr>
        <p:spPr>
          <a:xfrm>
            <a:off x="571500" y="3370259"/>
            <a:ext cx="4247294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4500"/>
                </a:solidFill>
              </a:rPr>
              <a:t>损失函数替换</a:t>
            </a:r>
            <a:endParaRPr lang="en-US" sz="987" dirty="0"/>
          </a:p>
        </p:txBody>
      </p:sp>
      <p:sp>
        <p:nvSpPr>
          <p:cNvPr id="11" name="Text 8"/>
          <p:cNvSpPr/>
          <p:nvPr/>
        </p:nvSpPr>
        <p:spPr>
          <a:xfrm>
            <a:off x="571500" y="3613147"/>
            <a:ext cx="4247294" cy="339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3333"/>
                </a:solidFill>
              </a:rPr>
              <a:t>舍弃标准 CrossEntropy，采用 </a:t>
            </a:r>
            <a:pPr algn="l" indent="0" marL="0">
              <a:lnSpc>
                <a:spcPts val="1300"/>
              </a:lnSpc>
              <a:buNone/>
            </a:pPr>
            <a:r>
              <a:rPr lang="en-US" sz="780" dirty="0">
                <a:solidFill>
                  <a:srgbClr val="E5E5E5"/>
                </a:solidFill>
              </a:rPr>
              <a:t>TriangularCrossEntropyLoss (α=1.0)</a:t>
            </a:r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3333"/>
                </a:solidFill>
              </a:rPr>
              <a:t>，强化对等</a:t>
            </a:r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3333"/>
                </a:solidFill>
              </a:rPr>
              <a:t>级偏差的惩罚。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571500" y="4188889"/>
            <a:ext cx="4247294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4500"/>
                </a:solidFill>
              </a:rPr>
              <a:t>优化目标</a:t>
            </a:r>
            <a:endParaRPr lang="en-US" sz="987" dirty="0"/>
          </a:p>
        </p:txBody>
      </p:sp>
      <p:sp>
        <p:nvSpPr>
          <p:cNvPr id="13" name="Text 10"/>
          <p:cNvSpPr/>
          <p:nvPr/>
        </p:nvSpPr>
        <p:spPr>
          <a:xfrm>
            <a:off x="571500" y="4431776"/>
            <a:ext cx="4247294" cy="339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3333"/>
                </a:solidFill>
              </a:rPr>
              <a:t>不仅关注分类准确率，更关注预测分布与真实等级之间的距离拟合，使结果在等级轴上更集中。</a:t>
            </a:r>
            <a:endParaRPr lang="en-US" sz="888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016" y="1497257"/>
            <a:ext cx="3457575" cy="33147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29681" y="4883395"/>
            <a:ext cx="254624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4500"/>
                </a:solidFill>
              </a:rPr>
              <a:t>FIG 04: CNN BACKBONE MODIFICATION SCHEMATIC</a:t>
            </a:r>
            <a:endParaRPr lang="en-US" sz="683" dirty="0"/>
          </a:p>
        </p:txBody>
      </p:sp>
      <p:sp>
        <p:nvSpPr>
          <p:cNvPr id="16" name="Text 12"/>
          <p:cNvSpPr/>
          <p:nvPr/>
        </p:nvSpPr>
        <p:spPr>
          <a:xfrm>
            <a:off x="8711133" y="4682728"/>
            <a:ext cx="14711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4500"/>
                </a:solidFill>
              </a:rPr>
              <a:t>06</a:t>
            </a:r>
            <a:endParaRPr lang="en-US" sz="88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5544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713231"/>
            <a:ext cx="8572500" cy="498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spc="-1" kern="0" dirty="0">
                <a:solidFill>
                  <a:srgbClr val="1A1A1A"/>
                </a:solidFill>
              </a:rPr>
              <a:t>实验结果：MAE &lt; 0.01 的卓越表现</a:t>
            </a:r>
            <a:endParaRPr lang="en-US" sz="2436" dirty="0"/>
          </a:p>
        </p:txBody>
      </p:sp>
      <p:sp>
        <p:nvSpPr>
          <p:cNvPr id="6" name="Text 3"/>
          <p:cNvSpPr/>
          <p:nvPr/>
        </p:nvSpPr>
        <p:spPr>
          <a:xfrm>
            <a:off x="800100" y="1868732"/>
            <a:ext cx="201928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spc="2" kern="0" dirty="0">
                <a:solidFill>
                  <a:srgbClr val="FF4500"/>
                </a:solidFill>
              </a:rPr>
              <a:t>Accuracy</a:t>
            </a:r>
            <a:endParaRPr lang="en-US" sz="885" dirty="0"/>
          </a:p>
        </p:txBody>
      </p:sp>
      <p:sp>
        <p:nvSpPr>
          <p:cNvPr id="7" name="Text 4"/>
          <p:cNvSpPr/>
          <p:nvPr/>
        </p:nvSpPr>
        <p:spPr>
          <a:xfrm>
            <a:off x="800100" y="2150911"/>
            <a:ext cx="2019281" cy="5447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62" b="1" dirty="0">
                <a:solidFill>
                  <a:srgbClr val="1A1A1A"/>
                </a:solidFill>
              </a:rPr>
              <a:t>&gt; 98%</a:t>
            </a:r>
            <a:endParaRPr lang="en-US" sz="2862" dirty="0"/>
          </a:p>
        </p:txBody>
      </p:sp>
      <p:sp>
        <p:nvSpPr>
          <p:cNvPr id="8" name="Text 5"/>
          <p:cNvSpPr/>
          <p:nvPr/>
        </p:nvSpPr>
        <p:spPr>
          <a:xfrm>
            <a:off x="3562331" y="1868732"/>
            <a:ext cx="2019309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spc="2" kern="0" dirty="0">
                <a:solidFill>
                  <a:srgbClr val="FF4500"/>
                </a:solidFill>
              </a:rPr>
              <a:t>Val MAE</a:t>
            </a:r>
            <a:endParaRPr lang="en-US" sz="885" dirty="0"/>
          </a:p>
        </p:txBody>
      </p:sp>
      <p:sp>
        <p:nvSpPr>
          <p:cNvPr id="9" name="Text 6"/>
          <p:cNvSpPr/>
          <p:nvPr/>
        </p:nvSpPr>
        <p:spPr>
          <a:xfrm>
            <a:off x="3562331" y="2150911"/>
            <a:ext cx="2019309" cy="5447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62" b="1" dirty="0">
                <a:solidFill>
                  <a:srgbClr val="1A1A1A"/>
                </a:solidFill>
              </a:rPr>
              <a:t>0.0164</a:t>
            </a:r>
            <a:endParaRPr lang="en-US" sz="2862" dirty="0"/>
          </a:p>
        </p:txBody>
      </p:sp>
      <p:sp>
        <p:nvSpPr>
          <p:cNvPr id="10" name="Text 7"/>
          <p:cNvSpPr/>
          <p:nvPr/>
        </p:nvSpPr>
        <p:spPr>
          <a:xfrm>
            <a:off x="6324591" y="1868732"/>
            <a:ext cx="201928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spc="2" kern="0" dirty="0">
                <a:solidFill>
                  <a:srgbClr val="FF4500"/>
                </a:solidFill>
              </a:rPr>
              <a:t>Convergence</a:t>
            </a:r>
            <a:endParaRPr lang="en-US" sz="885" dirty="0"/>
          </a:p>
        </p:txBody>
      </p:sp>
      <p:sp>
        <p:nvSpPr>
          <p:cNvPr id="11" name="Text 8"/>
          <p:cNvSpPr/>
          <p:nvPr/>
        </p:nvSpPr>
        <p:spPr>
          <a:xfrm>
            <a:off x="6324591" y="2150911"/>
            <a:ext cx="2019281" cy="5447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62" b="1" dirty="0">
                <a:solidFill>
                  <a:srgbClr val="1A1A1A"/>
                </a:solidFill>
              </a:rPr>
              <a:t>Epoch 8</a:t>
            </a:r>
            <a:endParaRPr lang="en-US" sz="2862" dirty="0"/>
          </a:p>
        </p:txBody>
      </p:sp>
      <p:sp>
        <p:nvSpPr>
          <p:cNvPr id="12" name="Text 9"/>
          <p:cNvSpPr/>
          <p:nvPr/>
        </p:nvSpPr>
        <p:spPr>
          <a:xfrm>
            <a:off x="778669" y="3633239"/>
            <a:ext cx="3579019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1A1A1A"/>
                </a:solidFill>
              </a:rPr>
              <a:t>收敛表现与稳定性</a:t>
            </a:r>
            <a:endParaRPr lang="en-US" sz="1090" dirty="0"/>
          </a:p>
        </p:txBody>
      </p:sp>
      <p:sp>
        <p:nvSpPr>
          <p:cNvPr id="13" name="Text 10"/>
          <p:cNvSpPr/>
          <p:nvPr/>
        </p:nvSpPr>
        <p:spPr>
          <a:xfrm>
            <a:off x="778669" y="3931490"/>
            <a:ext cx="3579019" cy="388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8" dirty="0">
                <a:solidFill>
                  <a:srgbClr val="333333"/>
                </a:solidFill>
              </a:rPr>
              <a:t>模型在学习率衰减后迅速达到稳定收敛状态。验证集 Loss 曲线平滑，未出现反弹现象，证明了训练策略的稳健性。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4993481" y="3633239"/>
            <a:ext cx="3579019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1A1A1A"/>
                </a:solidFill>
              </a:rPr>
              <a:t>结果解读与泛化</a:t>
            </a:r>
            <a:endParaRPr lang="en-US" sz="1090" dirty="0"/>
          </a:p>
        </p:txBody>
      </p:sp>
      <p:sp>
        <p:nvSpPr>
          <p:cNvPr id="15" name="Text 12"/>
          <p:cNvSpPr/>
          <p:nvPr/>
        </p:nvSpPr>
        <p:spPr>
          <a:xfrm>
            <a:off x="4993481" y="3931490"/>
            <a:ext cx="3579019" cy="388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8" dirty="0">
                <a:solidFill>
                  <a:srgbClr val="333333"/>
                </a:solidFill>
              </a:rPr>
              <a:t>极低的 MAE 表明模型不仅分类准确，且对缺陷等级的预测具有极高的置信度。Soft Labelling 策略在抑制过拟合方面效果显著。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8711133" y="4682728"/>
            <a:ext cx="14711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4500"/>
                </a:solidFill>
              </a:rPr>
              <a:t>07</a:t>
            </a:r>
            <a:endParaRPr lang="en-US" sz="88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48961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689511"/>
            <a:ext cx="85725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226" b="1" spc="-1" kern="0" dirty="0">
                <a:solidFill>
                  <a:srgbClr val="FF4500"/>
                </a:solidFill>
              </a:rPr>
              <a:t>理论前瞻：Vision Transformer (ViT) 的引入思考</a:t>
            </a:r>
            <a:endParaRPr lang="en-US" sz="2226" dirty="0"/>
          </a:p>
        </p:txBody>
      </p:sp>
      <p:sp>
        <p:nvSpPr>
          <p:cNvPr id="6" name="Shape 3"/>
          <p:cNvSpPr/>
          <p:nvPr/>
        </p:nvSpPr>
        <p:spPr>
          <a:xfrm>
            <a:off x="571500" y="1432461"/>
            <a:ext cx="4286250" cy="3313221"/>
          </a:xfrm>
          <a:prstGeom prst="rect">
            <a:avLst/>
          </a:prstGeom>
          <a:solidFill>
            <a:srgbClr val="333333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03899"/>
            <a:ext cx="4286250" cy="2286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24242" y="3875624"/>
            <a:ext cx="2380766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spc="2" kern="0" dirty="0">
                <a:solidFill>
                  <a:srgbClr val="FF4500"/>
                </a:solidFill>
              </a:rPr>
              <a:t>Vision Transformer (ViT) 核心架构示意</a:t>
            </a:r>
            <a:endParaRPr lang="en-US" sz="727" dirty="0"/>
          </a:p>
        </p:txBody>
      </p:sp>
      <p:sp>
        <p:nvSpPr>
          <p:cNvPr id="9" name="Text 5"/>
          <p:cNvSpPr/>
          <p:nvPr/>
        </p:nvSpPr>
        <p:spPr>
          <a:xfrm>
            <a:off x="5143500" y="1432461"/>
            <a:ext cx="3429000" cy="207169"/>
          </a:xfrm>
          <a:prstGeom prst="rect">
            <a:avLst/>
          </a:prstGeom>
          <a:noFill/>
          <a:ln/>
        </p:spPr>
        <p:txBody>
          <a:bodyPr wrap="none" lIns="127508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4500"/>
                </a:solidFill>
              </a:rPr>
              <a:t>核心机制与优势</a:t>
            </a:r>
            <a:endParaRPr lang="en-US" sz="987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1768218"/>
            <a:ext cx="75009" cy="8572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304234" y="1725355"/>
            <a:ext cx="3268266" cy="388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8" dirty="0">
                <a:solidFill>
                  <a:srgbClr val="E5E5E5"/>
                </a:solidFill>
              </a:rPr>
              <a:t>将图像分割为 Patch 序列，利用 Self-Attention 机制捕捉全局长距离依赖。</a:t>
            </a:r>
            <a:endParaRPr lang="en-US" sz="888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0" y="2213976"/>
            <a:ext cx="75009" cy="8572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304234" y="2171114"/>
            <a:ext cx="3239160" cy="19430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8" dirty="0">
                <a:solidFill>
                  <a:srgbClr val="E5E5E5"/>
                </a:solidFill>
              </a:rPr>
              <a:t>打破 CNN 的局部感受野限制，实现对整幅图像的宏观建模。</a:t>
            </a:r>
            <a:endParaRPr lang="en-US" sz="888" dirty="0"/>
          </a:p>
        </p:txBody>
      </p:sp>
      <p:sp>
        <p:nvSpPr>
          <p:cNvPr id="14" name="Text 8"/>
          <p:cNvSpPr/>
          <p:nvPr/>
        </p:nvSpPr>
        <p:spPr>
          <a:xfrm>
            <a:off x="5143500" y="2536868"/>
            <a:ext cx="3429000" cy="207169"/>
          </a:xfrm>
          <a:prstGeom prst="rect">
            <a:avLst/>
          </a:prstGeom>
          <a:noFill/>
          <a:ln/>
        </p:spPr>
        <p:txBody>
          <a:bodyPr wrap="none" lIns="127508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4500"/>
                </a:solidFill>
              </a:rPr>
              <a:t>CNN vs. ViT 对比</a:t>
            </a:r>
            <a:endParaRPr lang="en-US" sz="987" dirty="0"/>
          </a:p>
        </p:txBody>
      </p:sp>
      <p:sp>
        <p:nvSpPr>
          <p:cNvPr id="15" name="Shape 9"/>
          <p:cNvSpPr/>
          <p:nvPr/>
        </p:nvSpPr>
        <p:spPr>
          <a:xfrm>
            <a:off x="5143500" y="2829762"/>
            <a:ext cx="308297" cy="165729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16" name="Text 10"/>
          <p:cNvSpPr/>
          <p:nvPr/>
        </p:nvSpPr>
        <p:spPr>
          <a:xfrm>
            <a:off x="5143500" y="2829762"/>
            <a:ext cx="308297" cy="165729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584" b="1" dirty="0">
                <a:solidFill>
                  <a:srgbClr val="1A1A1A"/>
                </a:solidFill>
              </a:rPr>
              <a:t>CNN</a:t>
            </a:r>
            <a:endParaRPr lang="en-US" sz="584" dirty="0"/>
          </a:p>
        </p:txBody>
      </p:sp>
      <p:sp>
        <p:nvSpPr>
          <p:cNvPr id="17" name="Text 11"/>
          <p:cNvSpPr/>
          <p:nvPr/>
        </p:nvSpPr>
        <p:spPr>
          <a:xfrm>
            <a:off x="5508947" y="2829762"/>
            <a:ext cx="3063553" cy="388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8" dirty="0">
                <a:solidFill>
                  <a:srgbClr val="E5E5E5"/>
                </a:solidFill>
              </a:rPr>
              <a:t>归纳偏置强，擅长提取局部纹理，适合目前的细微裂缝检测。</a:t>
            </a:r>
            <a:endParaRPr lang="en-US" sz="888" dirty="0"/>
          </a:p>
        </p:txBody>
      </p:sp>
      <p:sp>
        <p:nvSpPr>
          <p:cNvPr id="18" name="Shape 12"/>
          <p:cNvSpPr/>
          <p:nvPr/>
        </p:nvSpPr>
        <p:spPr>
          <a:xfrm>
            <a:off x="5143500" y="3275521"/>
            <a:ext cx="253017" cy="165729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19" name="Text 13"/>
          <p:cNvSpPr/>
          <p:nvPr/>
        </p:nvSpPr>
        <p:spPr>
          <a:xfrm>
            <a:off x="5143500" y="3275521"/>
            <a:ext cx="253017" cy="165729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584" b="1" dirty="0">
                <a:solidFill>
                  <a:srgbClr val="1A1A1A"/>
                </a:solidFill>
              </a:rPr>
              <a:t>ViT</a:t>
            </a:r>
            <a:endParaRPr lang="en-US" sz="584" dirty="0"/>
          </a:p>
        </p:txBody>
      </p:sp>
      <p:sp>
        <p:nvSpPr>
          <p:cNvPr id="20" name="Text 14"/>
          <p:cNvSpPr/>
          <p:nvPr/>
        </p:nvSpPr>
        <p:spPr>
          <a:xfrm>
            <a:off x="5453667" y="3275521"/>
            <a:ext cx="3118833" cy="388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8" dirty="0">
                <a:solidFill>
                  <a:srgbClr val="E5E5E5"/>
                </a:solidFill>
              </a:rPr>
              <a:t>感受野全局化，适合捕捉贯穿整张长条形钢板的宏观缺陷特征。</a:t>
            </a:r>
            <a:endParaRPr lang="en-US" sz="888" dirty="0"/>
          </a:p>
        </p:txBody>
      </p:sp>
      <p:sp>
        <p:nvSpPr>
          <p:cNvPr id="21" name="Text 15"/>
          <p:cNvSpPr/>
          <p:nvPr/>
        </p:nvSpPr>
        <p:spPr>
          <a:xfrm>
            <a:off x="5143500" y="3835580"/>
            <a:ext cx="3429000" cy="207169"/>
          </a:xfrm>
          <a:prstGeom prst="rect">
            <a:avLst/>
          </a:prstGeom>
          <a:noFill/>
          <a:ln/>
        </p:spPr>
        <p:txBody>
          <a:bodyPr wrap="none" lIns="127508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4500"/>
                </a:solidFill>
              </a:rPr>
              <a:t>未来应用探索</a:t>
            </a:r>
            <a:endParaRPr lang="en-US" sz="987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500" y="4171336"/>
            <a:ext cx="75009" cy="8572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04234" y="4128474"/>
            <a:ext cx="3231152" cy="19430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8" dirty="0">
                <a:solidFill>
                  <a:srgbClr val="E5E5E5"/>
                </a:solidFill>
              </a:rPr>
              <a:t>探索 CNN 与 ViT 的混合架构，兼顾局部细节与全局上下文。</a:t>
            </a:r>
            <a:endParaRPr lang="en-US" sz="888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0" y="4422791"/>
            <a:ext cx="75009" cy="8572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5304234" y="4379928"/>
            <a:ext cx="2906641" cy="19430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8" dirty="0">
                <a:solidFill>
                  <a:srgbClr val="E5E5E5"/>
                </a:solidFill>
              </a:rPr>
              <a:t>研究 ViT 在小样本工业数据集上的预训练与微调策略。</a:t>
            </a:r>
            <a:endParaRPr lang="en-US" sz="888" dirty="0"/>
          </a:p>
        </p:txBody>
      </p:sp>
      <p:sp>
        <p:nvSpPr>
          <p:cNvPr id="26" name="Text 18"/>
          <p:cNvSpPr/>
          <p:nvPr/>
        </p:nvSpPr>
        <p:spPr>
          <a:xfrm>
            <a:off x="8711133" y="4682728"/>
            <a:ext cx="14711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4500"/>
                </a:solidFill>
              </a:rPr>
              <a:t>08</a:t>
            </a:r>
            <a:endParaRPr lang="en-US" sz="88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55440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9144000" cy="57150"/>
          </a:xfrm>
          <a:prstGeom prst="rect">
            <a:avLst/>
          </a:prstGeom>
          <a:solidFill>
            <a:srgbClr val="FF4500"/>
          </a:solidFill>
          <a:ln/>
        </p:spPr>
      </p:sp>
      <p:sp>
        <p:nvSpPr>
          <p:cNvPr id="5" name="Text 2"/>
          <p:cNvSpPr/>
          <p:nvPr/>
        </p:nvSpPr>
        <p:spPr>
          <a:xfrm>
            <a:off x="571500" y="713231"/>
            <a:ext cx="8572500" cy="498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spc="-1" kern="0" dirty="0">
                <a:solidFill>
                  <a:srgbClr val="E5E5E5"/>
                </a:solidFill>
              </a:rPr>
              <a:t>总结与展望：从 Baseline 到深度优化</a:t>
            </a:r>
            <a:endParaRPr lang="en-US" sz="2436" dirty="0"/>
          </a:p>
        </p:txBody>
      </p:sp>
      <p:sp>
        <p:nvSpPr>
          <p:cNvPr id="6" name="Text 3"/>
          <p:cNvSpPr/>
          <p:nvPr/>
        </p:nvSpPr>
        <p:spPr>
          <a:xfrm>
            <a:off x="571500" y="1497257"/>
            <a:ext cx="371475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spc="2" kern="0" dirty="0">
                <a:solidFill>
                  <a:srgbClr val="FF4500"/>
                </a:solidFill>
              </a:rPr>
              <a:t>This Week Summary</a:t>
            </a:r>
            <a:endParaRPr lang="en-US" sz="727" dirty="0"/>
          </a:p>
        </p:txBody>
      </p:sp>
      <p:sp>
        <p:nvSpPr>
          <p:cNvPr id="7" name="Text 4"/>
          <p:cNvSpPr/>
          <p:nvPr/>
        </p:nvSpPr>
        <p:spPr>
          <a:xfrm>
            <a:off x="571500" y="1890164"/>
            <a:ext cx="371475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4500"/>
                </a:solidFill>
              </a:rPr>
              <a:t>Baseline 建立</a:t>
            </a:r>
            <a:endParaRPr lang="en-US" sz="1090" dirty="0"/>
          </a:p>
        </p:txBody>
      </p:sp>
      <p:sp>
        <p:nvSpPr>
          <p:cNvPr id="8" name="Text 5"/>
          <p:cNvSpPr/>
          <p:nvPr/>
        </p:nvSpPr>
        <p:spPr>
          <a:xfrm>
            <a:off x="571500" y="2174128"/>
            <a:ext cx="3714750" cy="364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88" dirty="0">
                <a:solidFill>
                  <a:srgbClr val="CCCCCC"/>
                </a:solidFill>
              </a:rPr>
              <a:t>成功验证了 dlordinal 库在工业缺陷分级任务中的有效性，建立了完整的有序回归 Baseline。</a:t>
            </a:r>
            <a:endParaRPr lang="en-US" sz="888" dirty="0"/>
          </a:p>
        </p:txBody>
      </p:sp>
      <p:sp>
        <p:nvSpPr>
          <p:cNvPr id="9" name="Text 6"/>
          <p:cNvSpPr/>
          <p:nvPr/>
        </p:nvSpPr>
        <p:spPr>
          <a:xfrm>
            <a:off x="571500" y="2831353"/>
            <a:ext cx="371475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4500"/>
                </a:solidFill>
              </a:rPr>
              <a:t>性能突破</a:t>
            </a:r>
            <a:endParaRPr lang="en-US" sz="1090" dirty="0"/>
          </a:p>
        </p:txBody>
      </p:sp>
      <p:sp>
        <p:nvSpPr>
          <p:cNvPr id="10" name="Text 7"/>
          <p:cNvSpPr/>
          <p:nvPr/>
        </p:nvSpPr>
        <p:spPr>
          <a:xfrm>
            <a:off x="571500" y="3115317"/>
            <a:ext cx="3714750" cy="364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88" dirty="0">
                <a:solidFill>
                  <a:srgbClr val="CCCCCC"/>
                </a:solidFill>
              </a:rPr>
              <a:t>通过软标签策略与 TriangularCE 损失函数，实现了 MAE &lt; 0.01 的高精度等级预测。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4857750" y="1497257"/>
            <a:ext cx="371475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spc="2" kern="0" dirty="0">
                <a:solidFill>
                  <a:srgbClr val="FF4500"/>
                </a:solidFill>
              </a:rPr>
              <a:t>Next Week Plan</a:t>
            </a:r>
            <a:endParaRPr lang="en-US" sz="727" dirty="0"/>
          </a:p>
        </p:txBody>
      </p:sp>
      <p:sp>
        <p:nvSpPr>
          <p:cNvPr id="12" name="Text 9"/>
          <p:cNvSpPr/>
          <p:nvPr/>
        </p:nvSpPr>
        <p:spPr>
          <a:xfrm>
            <a:off x="4857750" y="1890164"/>
            <a:ext cx="371475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4500"/>
                </a:solidFill>
              </a:rPr>
              <a:t>Bad Case 分析</a:t>
            </a:r>
            <a:endParaRPr lang="en-US" sz="1090" dirty="0"/>
          </a:p>
        </p:txBody>
      </p:sp>
      <p:sp>
        <p:nvSpPr>
          <p:cNvPr id="13" name="Text 10"/>
          <p:cNvSpPr/>
          <p:nvPr/>
        </p:nvSpPr>
        <p:spPr>
          <a:xfrm>
            <a:off x="4857750" y="2174128"/>
            <a:ext cx="3714750" cy="364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88" dirty="0">
                <a:solidFill>
                  <a:srgbClr val="CCCCCC"/>
                </a:solidFill>
              </a:rPr>
              <a:t>深入检查 0.2% 的错误样本，分析标注模糊或图像伪影对模型判定的影响。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4857750" y="2831353"/>
            <a:ext cx="371475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4500"/>
                </a:solidFill>
              </a:rPr>
              <a:t>模型对比实验</a:t>
            </a:r>
            <a:endParaRPr lang="en-US" sz="1090" dirty="0"/>
          </a:p>
        </p:txBody>
      </p:sp>
      <p:sp>
        <p:nvSpPr>
          <p:cNvPr id="15" name="Text 12"/>
          <p:cNvSpPr/>
          <p:nvPr/>
        </p:nvSpPr>
        <p:spPr>
          <a:xfrm>
            <a:off x="4857750" y="3115317"/>
            <a:ext cx="3714750" cy="364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88" dirty="0">
                <a:solidFill>
                  <a:srgbClr val="CCCCCC"/>
                </a:solidFill>
              </a:rPr>
              <a:t>测试从零训练与迁移学习的效果差异，并尝试跑通 ViT Demo 进行性能对比。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571500" y="4722019"/>
            <a:ext cx="217502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spc="4" kern="0" dirty="0">
                <a:solidFill>
                  <a:srgbClr val="333333"/>
                </a:solidFill>
              </a:rPr>
              <a:t>END OF REPORT / JAN 2026</a:t>
            </a:r>
            <a:endParaRPr lang="en-US" sz="683" dirty="0"/>
          </a:p>
        </p:txBody>
      </p:sp>
      <p:sp>
        <p:nvSpPr>
          <p:cNvPr id="17" name="Text 14"/>
          <p:cNvSpPr/>
          <p:nvPr/>
        </p:nvSpPr>
        <p:spPr>
          <a:xfrm>
            <a:off x="8711133" y="4682728"/>
            <a:ext cx="14711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4500"/>
                </a:solidFill>
              </a:rPr>
              <a:t>09</a:t>
            </a:r>
            <a:endParaRPr lang="en-US" sz="88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2026-01-30T04:24:58Z</dcterms:created>
  <dcterms:modified xsi:type="dcterms:W3CDTF">2026-01-30T04:24:58Z</dcterms:modified>
</cp:coreProperties>
</file>