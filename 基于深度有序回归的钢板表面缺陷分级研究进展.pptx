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9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959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35041"/>
            <a:ext cx="4000500" cy="496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zh-CN" altLang="en-US" sz="3294" b="1" kern="0" spc="-2" dirty="0">
                <a:solidFill>
                  <a:srgbClr val="E5E5E5"/>
                </a:solidFill>
              </a:rPr>
              <a:t>周进度汇报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4043363"/>
            <a:ext cx="4000500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4500">
                    <a:alpha val="80000"/>
                  </a:srgbClr>
                </a:solidFill>
              </a:rPr>
              <a:t>Presenter</a:t>
            </a:r>
            <a:r>
              <a:rPr lang="en-US" sz="1269" dirty="0">
                <a:solidFill>
                  <a:srgbClr val="E5E5E5">
                    <a:alpha val="80000"/>
                  </a:srgbClr>
                </a:solidFill>
              </a:rPr>
              <a:t>李雲鹤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4364831"/>
            <a:ext cx="4000500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4500">
                    <a:alpha val="80000"/>
                  </a:srgbClr>
                </a:solidFill>
              </a:rPr>
              <a:t>Date</a:t>
            </a:r>
            <a:r>
              <a:rPr lang="en-US" sz="1269" dirty="0">
                <a:solidFill>
                  <a:srgbClr val="E5E5E5">
                    <a:alpha val="80000"/>
                  </a:srgbClr>
                </a:solidFill>
              </a:rPr>
              <a:t>2026年1月29日</a:t>
            </a:r>
            <a:endParaRPr lang="en-US" sz="885" dirty="0"/>
          </a:p>
        </p:txBody>
      </p:sp>
      <p:sp>
        <p:nvSpPr>
          <p:cNvPr id="6" name="Shape 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Text 4"/>
          <p:cNvSpPr/>
          <p:nvPr/>
        </p:nvSpPr>
        <p:spPr>
          <a:xfrm>
            <a:off x="7459917" y="285750"/>
            <a:ext cx="1398333" cy="307181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4500"/>
                </a:solidFill>
              </a:rPr>
              <a:t>WEEKLY REPORT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183488" y="1143000"/>
            <a:ext cx="3348996" cy="285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500"/>
              </a:lnSpc>
              <a:buNone/>
            </a:pPr>
            <a:r>
              <a:rPr lang="en-US" sz="20727" b="1" dirty="0">
                <a:solidFill>
                  <a:srgbClr val="FF4500">
                    <a:alpha val="10000"/>
                  </a:srgbClr>
                </a:solidFill>
              </a:rPr>
              <a:t>01</a:t>
            </a:r>
            <a:endParaRPr lang="en-US" sz="20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5544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713231"/>
            <a:ext cx="857250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本周工作摘要：多维并进的研究进展</a:t>
            </a:r>
            <a:endParaRPr lang="en-US" sz="2436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93711"/>
            <a:ext cx="214313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2969" y="1654420"/>
            <a:ext cx="71437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1A1A1A"/>
                </a:solidFill>
              </a:rPr>
              <a:t>文献调研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571500" y="2011607"/>
            <a:ext cx="3857625" cy="390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 err="1">
                <a:solidFill>
                  <a:srgbClr val="333333"/>
                </a:solidFill>
              </a:rPr>
              <a:t>研读《dlordinal</a:t>
            </a:r>
            <a:r>
              <a:rPr lang="en-US" sz="942" dirty="0">
                <a:solidFill>
                  <a:srgbClr val="333333"/>
                </a:solidFill>
              </a:rPr>
              <a:t>: A Python package for deep ordinal classification》，</a:t>
            </a:r>
            <a:r>
              <a:rPr lang="en-US" sz="942" dirty="0" err="1">
                <a:solidFill>
                  <a:srgbClr val="333333"/>
                </a:solidFill>
              </a:rPr>
              <a:t>掌握深度有序分类方法</a:t>
            </a:r>
            <a:r>
              <a:rPr lang="en-US" sz="942" dirty="0">
                <a:solidFill>
                  <a:srgbClr val="333333"/>
                </a:solidFill>
              </a:rPr>
              <a:t>。</a:t>
            </a:r>
            <a:endParaRPr lang="en-US" sz="942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693711"/>
            <a:ext cx="214313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36344" y="1654420"/>
            <a:ext cx="71437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1A1A1A"/>
                </a:solidFill>
              </a:rPr>
              <a:t>算法实现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4714875" y="2011607"/>
            <a:ext cx="3857625" cy="390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基于 dlordinal 库重构 ResNet18 </a:t>
            </a:r>
            <a:r>
              <a:rPr lang="en-US" sz="942" dirty="0" err="1">
                <a:solidFill>
                  <a:srgbClr val="333333"/>
                </a:solidFill>
              </a:rPr>
              <a:t>训练流程，引入</a:t>
            </a:r>
            <a:r>
              <a:rPr lang="zh-CN" altLang="en-US" sz="942" dirty="0">
                <a:solidFill>
                  <a:srgbClr val="333333"/>
                </a:solidFill>
              </a:rPr>
              <a:t>针对有序回归的</a:t>
            </a:r>
            <a:r>
              <a:rPr lang="en-US" altLang="zh-CN" sz="942" dirty="0">
                <a:solidFill>
                  <a:srgbClr val="333333"/>
                </a:solidFill>
              </a:rPr>
              <a:t>loss</a:t>
            </a:r>
            <a:r>
              <a:rPr lang="zh-CN" altLang="en-US" sz="942" dirty="0">
                <a:solidFill>
                  <a:srgbClr val="333333"/>
                </a:solidFill>
              </a:rPr>
              <a:t>函数和度量标准</a:t>
            </a:r>
            <a:r>
              <a:rPr lang="en-US" altLang="zh-CN" sz="942" dirty="0" err="1">
                <a:solidFill>
                  <a:srgbClr val="333333"/>
                </a:solidFill>
              </a:rPr>
              <a:t>mae</a:t>
            </a:r>
            <a:r>
              <a:rPr lang="en-US" sz="942" dirty="0" err="1">
                <a:solidFill>
                  <a:srgbClr val="333333"/>
                </a:solidFill>
              </a:rPr>
              <a:t>，优化了模型对等级顺序的感知能力</a:t>
            </a:r>
            <a:r>
              <a:rPr lang="en-US" sz="942" dirty="0">
                <a:solidFill>
                  <a:srgbClr val="333333"/>
                </a:solidFill>
              </a:rPr>
              <a:t>。</a:t>
            </a:r>
            <a:endParaRPr lang="en-US" sz="942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59693"/>
            <a:ext cx="214313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2969" y="3620402"/>
            <a:ext cx="71437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1A1A1A"/>
                </a:solidFill>
              </a:rPr>
              <a:t>实验验证</a:t>
            </a:r>
            <a:endParaRPr lang="en-US" sz="1193" dirty="0"/>
          </a:p>
        </p:txBody>
      </p:sp>
      <p:sp>
        <p:nvSpPr>
          <p:cNvPr id="14" name="Text 8"/>
          <p:cNvSpPr/>
          <p:nvPr/>
        </p:nvSpPr>
        <p:spPr>
          <a:xfrm>
            <a:off x="571500" y="3977590"/>
            <a:ext cx="3857625" cy="390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 err="1">
                <a:solidFill>
                  <a:srgbClr val="333333"/>
                </a:solidFill>
              </a:rPr>
              <a:t>完成钢板数据集</a:t>
            </a:r>
            <a:r>
              <a:rPr lang="zh-CN" altLang="en-US" sz="942" dirty="0">
                <a:solidFill>
                  <a:srgbClr val="333333"/>
                </a:solidFill>
              </a:rPr>
              <a:t>预处理</a:t>
            </a:r>
            <a:r>
              <a:rPr lang="en-US" sz="942" dirty="0">
                <a:solidFill>
                  <a:srgbClr val="333333"/>
                </a:solidFill>
              </a:rPr>
              <a:t>，</a:t>
            </a:r>
            <a:r>
              <a:rPr lang="en-US" sz="942" dirty="0" err="1">
                <a:solidFill>
                  <a:srgbClr val="333333"/>
                </a:solidFill>
              </a:rPr>
              <a:t>有序分类任务初步收敛</a:t>
            </a:r>
            <a:r>
              <a:rPr lang="en-US" sz="942" dirty="0">
                <a:solidFill>
                  <a:srgbClr val="333333"/>
                </a:solidFill>
              </a:rPr>
              <a:t>,</a:t>
            </a:r>
            <a:r>
              <a:rPr lang="zh-CN" altLang="en-US" sz="942" dirty="0">
                <a:solidFill>
                  <a:srgbClr val="333333"/>
                </a:solidFill>
              </a:rPr>
              <a:t>使用调试后的代码进行了初步测试</a:t>
            </a:r>
            <a:r>
              <a:rPr lang="en-US" altLang="zh-CN" sz="942" dirty="0">
                <a:solidFill>
                  <a:srgbClr val="333333"/>
                </a:solidFill>
              </a:rPr>
              <a:t>,</a:t>
            </a:r>
            <a:r>
              <a:rPr lang="zh-CN" altLang="en-US" sz="942" dirty="0">
                <a:solidFill>
                  <a:srgbClr val="333333"/>
                </a:solidFill>
              </a:rPr>
              <a:t>效果理想</a:t>
            </a:r>
            <a:r>
              <a:rPr lang="en-US" sz="942" dirty="0">
                <a:solidFill>
                  <a:srgbClr val="333333"/>
                </a:solidFill>
              </a:rPr>
              <a:t>。</a:t>
            </a:r>
            <a:endParaRPr lang="en-US" sz="942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3659693"/>
            <a:ext cx="214313" cy="171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36344" y="3620402"/>
            <a:ext cx="71437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1A1A1A"/>
                </a:solidFill>
              </a:rPr>
              <a:t>理论扩展</a:t>
            </a:r>
            <a:endParaRPr lang="en-US" sz="1193" dirty="0"/>
          </a:p>
        </p:txBody>
      </p:sp>
      <p:sp>
        <p:nvSpPr>
          <p:cNvPr id="17" name="Text 10"/>
          <p:cNvSpPr/>
          <p:nvPr/>
        </p:nvSpPr>
        <p:spPr>
          <a:xfrm>
            <a:off x="4714875" y="3977590"/>
            <a:ext cx="3857625" cy="390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初步调研 Vision Transformer (ViT) </a:t>
            </a:r>
            <a:r>
              <a:rPr lang="en-US" sz="942" dirty="0" err="1">
                <a:solidFill>
                  <a:srgbClr val="333333"/>
                </a:solidFill>
              </a:rPr>
              <a:t>架构及其在视觉任务中的应用潜力，思考其在图像处理中的优势</a:t>
            </a:r>
            <a:r>
              <a:rPr lang="en-US" sz="942" dirty="0">
                <a:solidFill>
                  <a:srgbClr val="333333"/>
                </a:solidFill>
              </a:rPr>
              <a:t>。</a:t>
            </a:r>
            <a:endParaRPr lang="en-US" sz="942" dirty="0"/>
          </a:p>
        </p:txBody>
      </p:sp>
      <p:sp>
        <p:nvSpPr>
          <p:cNvPr id="18" name="Text 11"/>
          <p:cNvSpPr/>
          <p:nvPr/>
        </p:nvSpPr>
        <p:spPr>
          <a:xfrm>
            <a:off x="8711133" y="4682728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02</a:t>
            </a:r>
            <a:endParaRPr lang="en-US" sz="8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5544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713231"/>
            <a:ext cx="857250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E5E5E5"/>
                </a:solidFill>
              </a:rPr>
              <a:t>技术架构：dlordinal 库的深度集成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497257"/>
            <a:ext cx="3943350" cy="3228975"/>
          </a:xfrm>
          <a:prstGeom prst="rect">
            <a:avLst/>
          </a:prstGeom>
          <a:solidFill>
            <a:srgbClr val="333333"/>
          </a:solidFill>
          <a:ln w="9144">
            <a:solidFill>
              <a:srgbClr val="444444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1675851"/>
            <a:ext cx="3571875" cy="2857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36356" y="1675851"/>
            <a:ext cx="343614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损失函数创新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5136356" y="1974103"/>
            <a:ext cx="3436144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CCCCCC"/>
                </a:solidFill>
              </a:rPr>
              <a:t>引入 TriangularCrossEntropyLoss，专门针对预测偏差进行加权惩罚，强化模型对等级顺序的敏感度。</a:t>
            </a:r>
            <a:endParaRPr lang="en-US" sz="888" dirty="0"/>
          </a:p>
        </p:txBody>
      </p:sp>
      <p:sp>
        <p:nvSpPr>
          <p:cNvPr id="10" name="Text 6"/>
          <p:cNvSpPr/>
          <p:nvPr/>
        </p:nvSpPr>
        <p:spPr>
          <a:xfrm>
            <a:off x="5136356" y="2541305"/>
            <a:ext cx="343614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软标签策略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5136356" y="2839557"/>
            <a:ext cx="3436144" cy="173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 err="1">
                <a:solidFill>
                  <a:srgbClr val="CCCCCC"/>
                </a:solidFill>
              </a:rPr>
              <a:t>使用单峰分布生成软标签替代</a:t>
            </a:r>
            <a:r>
              <a:rPr lang="en-US" sz="888" dirty="0">
                <a:solidFill>
                  <a:srgbClr val="CCCCCC"/>
                </a:solidFill>
              </a:rPr>
              <a:t> One-hot 编码，有效缓解过拟合。</a:t>
            </a:r>
            <a:endParaRPr lang="en-US" sz="888" dirty="0"/>
          </a:p>
        </p:txBody>
      </p:sp>
      <p:sp>
        <p:nvSpPr>
          <p:cNvPr id="12" name="Text 8"/>
          <p:cNvSpPr/>
          <p:nvPr/>
        </p:nvSpPr>
        <p:spPr>
          <a:xfrm>
            <a:off x="5136356" y="3406759"/>
            <a:ext cx="343614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评价体系升级</a:t>
            </a:r>
            <a:endParaRPr lang="en-US" sz="1090" dirty="0"/>
          </a:p>
        </p:txBody>
      </p:sp>
      <p:sp>
        <p:nvSpPr>
          <p:cNvPr id="13" name="Text 9"/>
          <p:cNvSpPr/>
          <p:nvPr/>
        </p:nvSpPr>
        <p:spPr>
          <a:xfrm>
            <a:off x="5136356" y="3705011"/>
            <a:ext cx="3436144" cy="173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 err="1">
                <a:solidFill>
                  <a:srgbClr val="CCCCCC"/>
                </a:solidFill>
              </a:rPr>
              <a:t>采用</a:t>
            </a:r>
            <a:r>
              <a:rPr lang="en-US" sz="888" dirty="0">
                <a:solidFill>
                  <a:srgbClr val="CCCCCC"/>
                </a:solidFill>
              </a:rPr>
              <a:t> </a:t>
            </a:r>
            <a:r>
              <a:rPr lang="en-US" altLang="zh-CN" sz="888" dirty="0" err="1">
                <a:solidFill>
                  <a:srgbClr val="CCCCCC"/>
                </a:solidFill>
              </a:rPr>
              <a:t>A</a:t>
            </a:r>
            <a:r>
              <a:rPr lang="en-US" sz="888" dirty="0" err="1">
                <a:solidFill>
                  <a:srgbClr val="CCCCCC"/>
                </a:solidFill>
              </a:rPr>
              <a:t>MAE和</a:t>
            </a:r>
            <a:r>
              <a:rPr lang="en-US" sz="888" dirty="0">
                <a:solidFill>
                  <a:srgbClr val="CCCCCC"/>
                </a:solidFill>
              </a:rPr>
              <a:t> MMAE 作为核心指标，精准量化等级预测的物理距离。</a:t>
            </a:r>
            <a:endParaRPr lang="en-US" sz="888" dirty="0"/>
          </a:p>
        </p:txBody>
      </p:sp>
      <p:sp>
        <p:nvSpPr>
          <p:cNvPr id="14" name="Text 10"/>
          <p:cNvSpPr/>
          <p:nvPr/>
        </p:nvSpPr>
        <p:spPr>
          <a:xfrm>
            <a:off x="5136356" y="4272214"/>
            <a:ext cx="343614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模块化设计</a:t>
            </a:r>
            <a:endParaRPr lang="en-US" sz="1090" dirty="0"/>
          </a:p>
        </p:txBody>
      </p:sp>
      <p:sp>
        <p:nvSpPr>
          <p:cNvPr id="15" name="Text 11"/>
          <p:cNvSpPr/>
          <p:nvPr/>
        </p:nvSpPr>
        <p:spPr>
          <a:xfrm>
            <a:off x="5136356" y="4570465"/>
            <a:ext cx="3436144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CCCCCC"/>
                </a:solidFill>
              </a:rPr>
              <a:t>库提供的模块化接口极大简化了从标准分类到有序分类的迁移过程，提升开发效率。</a:t>
            </a:r>
            <a:endParaRPr lang="en-US" sz="888" dirty="0"/>
          </a:p>
        </p:txBody>
      </p:sp>
      <p:sp>
        <p:nvSpPr>
          <p:cNvPr id="16" name="Text 12"/>
          <p:cNvSpPr/>
          <p:nvPr/>
        </p:nvSpPr>
        <p:spPr>
          <a:xfrm>
            <a:off x="8711133" y="4682728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04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5544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713231"/>
            <a:ext cx="5311775" cy="389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 err="1">
                <a:solidFill>
                  <a:srgbClr val="E5E5E5"/>
                </a:solidFill>
              </a:rPr>
              <a:t>数据预处理：针对</a:t>
            </a:r>
            <a:r>
              <a:rPr lang="zh-CN" altLang="en-US" sz="2436" b="1" kern="0" spc="-1" dirty="0">
                <a:solidFill>
                  <a:srgbClr val="E5E5E5"/>
                </a:solidFill>
                <a:latin typeface="Calibri" panose="020F0502020204030204" pitchFamily="34" charset="0"/>
                <a:ea typeface="Batang" panose="02030600000101010101" pitchFamily="18" charset="-127"/>
                <a:cs typeface="Calibri" panose="020F0502020204030204" pitchFamily="34" charset="0"/>
              </a:rPr>
              <a:t>锌板图像</a:t>
            </a:r>
            <a:r>
              <a:rPr lang="en-US" sz="2436" b="1" kern="0" spc="-1" dirty="0" err="1">
                <a:solidFill>
                  <a:srgbClr val="E5E5E5"/>
                </a:solidFill>
              </a:rPr>
              <a:t>的优化策略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561551"/>
            <a:ext cx="65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2714625" y="1561551"/>
            <a:ext cx="2154436" cy="22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 err="1">
                <a:solidFill>
                  <a:srgbClr val="E5E5E5"/>
                </a:solidFill>
              </a:rPr>
              <a:t>数据难点</a:t>
            </a:r>
            <a:r>
              <a:rPr lang="en-US" sz="1397" b="1" dirty="0">
                <a:solidFill>
                  <a:srgbClr val="E5E5E5"/>
                </a:solidFill>
              </a:rPr>
              <a:t>：</a:t>
            </a:r>
            <a:r>
              <a:rPr lang="zh-CN" altLang="en-US" sz="1397" b="1" dirty="0">
                <a:solidFill>
                  <a:srgbClr val="E5E5E5"/>
                </a:solidFill>
              </a:rPr>
              <a:t>图像格式不匹配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2714625" y="1893736"/>
            <a:ext cx="5857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原始钢板图像具有极大的长宽比（W≈150, H≈16000），直接输入 CNN 网络会导致严重的纹理失真与特征丢失。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2455190"/>
            <a:ext cx="65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2714625" y="2455190"/>
            <a:ext cx="601127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altLang="zh-CN" sz="1397" b="1" dirty="0">
                <a:solidFill>
                  <a:srgbClr val="E5E5E5"/>
                </a:solidFill>
              </a:rPr>
              <a:t>padding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2714625" y="2787374"/>
            <a:ext cx="2077492" cy="1850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对宽度不足 224 </a:t>
            </a:r>
            <a:r>
              <a:rPr lang="en-US" sz="942" dirty="0" err="1">
                <a:solidFill>
                  <a:srgbClr val="CCCCCC"/>
                </a:solidFill>
              </a:rPr>
              <a:t>的图像进</a:t>
            </a:r>
            <a:r>
              <a:rPr lang="en-US" altLang="zh-CN" sz="942" dirty="0" err="1">
                <a:solidFill>
                  <a:srgbClr val="CCCCCC"/>
                </a:solidFill>
              </a:rPr>
              <a:t>zero</a:t>
            </a:r>
            <a:r>
              <a:rPr lang="en-US" altLang="zh-CN" sz="942" dirty="0">
                <a:solidFill>
                  <a:srgbClr val="CCCCCC"/>
                </a:solidFill>
              </a:rPr>
              <a:t> padding</a:t>
            </a:r>
            <a:r>
              <a:rPr lang="en-US" sz="942" dirty="0">
                <a:solidFill>
                  <a:srgbClr val="CCCCCC"/>
                </a:solidFill>
              </a:rPr>
              <a:t>。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2714625" y="3035954"/>
            <a:ext cx="2351968" cy="26253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0"/>
          <p:cNvSpPr/>
          <p:nvPr/>
        </p:nvSpPr>
        <p:spPr>
          <a:xfrm>
            <a:off x="2714625" y="3035954"/>
            <a:ext cx="2351968" cy="262533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4500"/>
                </a:solidFill>
              </a:rPr>
              <a:t>Target Size: 224 × 224 (Standard Input)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571500" y="3448506"/>
            <a:ext cx="65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2714625" y="3448506"/>
            <a:ext cx="2760820" cy="22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zh-CN" altLang="en-US" sz="1397" b="1" dirty="0">
                <a:solidFill>
                  <a:srgbClr val="E5E5E5"/>
                </a:solidFill>
              </a:rPr>
              <a:t>对图像在高度上进行</a:t>
            </a:r>
            <a:r>
              <a:rPr lang="en-US" sz="1397" b="1" dirty="0" err="1">
                <a:solidFill>
                  <a:srgbClr val="E5E5E5"/>
                </a:solidFill>
              </a:rPr>
              <a:t>切片</a:t>
            </a:r>
            <a:r>
              <a:rPr lang="en-US" sz="1397" b="1" dirty="0">
                <a:solidFill>
                  <a:srgbClr val="E5E5E5"/>
                </a:solidFill>
              </a:rPr>
              <a:t> (Patching)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2714625" y="3780690"/>
            <a:ext cx="2983189" cy="1853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 err="1">
                <a:solidFill>
                  <a:srgbClr val="CCCCCC"/>
                </a:solidFill>
              </a:rPr>
              <a:t>在高度方向进行滑动切片</a:t>
            </a:r>
            <a:r>
              <a:rPr lang="en-US" sz="942" dirty="0">
                <a:solidFill>
                  <a:srgbClr val="CCCCCC"/>
                </a:solidFill>
              </a:rPr>
              <a:t>，，</a:t>
            </a:r>
            <a:r>
              <a:rPr lang="en-US" sz="942" dirty="0" err="1">
                <a:solidFill>
                  <a:srgbClr val="CCCCCC"/>
                </a:solidFill>
              </a:rPr>
              <a:t>生成标准</a:t>
            </a:r>
            <a:r>
              <a:rPr lang="en-US" sz="942" dirty="0">
                <a:solidFill>
                  <a:srgbClr val="CCCCCC"/>
                </a:solidFill>
              </a:rPr>
              <a:t> </a:t>
            </a:r>
            <a:r>
              <a:rPr lang="en-US" altLang="zh-CN" sz="942" dirty="0" err="1">
                <a:solidFill>
                  <a:srgbClr val="CCCCCC"/>
                </a:solidFill>
              </a:rPr>
              <a:t>resnet</a:t>
            </a:r>
            <a:r>
              <a:rPr lang="zh-CN" altLang="en-US" sz="942" dirty="0">
                <a:solidFill>
                  <a:srgbClr val="CCCCCC"/>
                </a:solidFill>
              </a:rPr>
              <a:t>输入格式</a:t>
            </a:r>
            <a:r>
              <a:rPr lang="en-US" sz="942" dirty="0">
                <a:solidFill>
                  <a:srgbClr val="CCCCCC"/>
                </a:solidFill>
              </a:rPr>
              <a:t>。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571500" y="4136427"/>
            <a:ext cx="65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2714625" y="4136427"/>
            <a:ext cx="585787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5E5E5"/>
                </a:solidFill>
              </a:rPr>
              <a:t>数据集划分与验证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2714625" y="4468611"/>
            <a:ext cx="58578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严格执行 8:2 的 Train/Val 物理划分，确保验证结果的客观性，避免数据泄露。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8711133" y="4682728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05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5544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713231"/>
            <a:ext cx="6099427" cy="389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 err="1">
                <a:solidFill>
                  <a:srgbClr val="1A1A1A"/>
                </a:solidFill>
              </a:rPr>
              <a:t>模型设计</a:t>
            </a:r>
            <a:r>
              <a:rPr lang="en-US" sz="2436" b="1" kern="0" spc="-1" dirty="0">
                <a:solidFill>
                  <a:srgbClr val="1A1A1A"/>
                </a:solidFill>
              </a:rPr>
              <a:t>：</a:t>
            </a:r>
            <a:r>
              <a:rPr lang="zh-CN" altLang="en-US" sz="2436" b="1" kern="0" spc="-1" dirty="0">
                <a:solidFill>
                  <a:srgbClr val="1A1A1A"/>
                </a:solidFill>
              </a:rPr>
              <a:t>针对有序回归的改进版</a:t>
            </a:r>
            <a:r>
              <a:rPr lang="en-US" sz="2436" b="1" kern="0" spc="-1" dirty="0">
                <a:solidFill>
                  <a:srgbClr val="1A1A1A"/>
                </a:solidFill>
              </a:rPr>
              <a:t>ResNet-18 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733001"/>
            <a:ext cx="42472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Backbone 选择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1975889"/>
            <a:ext cx="4247294" cy="321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采用在 ImageNet 上预训练的</a:t>
            </a:r>
            <a:r>
              <a:rPr lang="en-US" sz="888" dirty="0">
                <a:solidFill>
                  <a:srgbClr val="FF0000"/>
                </a:solidFill>
              </a:rPr>
              <a:t> </a:t>
            </a:r>
            <a:r>
              <a:rPr lang="en-US" sz="780" dirty="0">
                <a:solidFill>
                  <a:srgbClr val="FF0000"/>
                </a:solidFill>
              </a:rPr>
              <a:t>ResNet-18</a:t>
            </a:r>
            <a:r>
              <a:rPr lang="en-US" sz="888" dirty="0">
                <a:solidFill>
                  <a:srgbClr val="333333"/>
                </a:solidFill>
              </a:rPr>
              <a:t>，利用其强大的特征提取能力作为缺陷检测的基础。</a:t>
            </a:r>
            <a:endParaRPr lang="en-US" sz="888" dirty="0"/>
          </a:p>
        </p:txBody>
      </p:sp>
      <p:sp>
        <p:nvSpPr>
          <p:cNvPr id="8" name="Text 5"/>
          <p:cNvSpPr/>
          <p:nvPr/>
        </p:nvSpPr>
        <p:spPr>
          <a:xfrm>
            <a:off x="571500" y="2551630"/>
            <a:ext cx="42472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输出层改进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2794518"/>
            <a:ext cx="424729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修改全连接层为 4 分类输出，精准对应缺陷等级 1-4，为有序回归提供结构支撑。</a:t>
            </a:r>
            <a:endParaRPr lang="en-US" sz="888" dirty="0"/>
          </a:p>
        </p:txBody>
      </p:sp>
      <p:sp>
        <p:nvSpPr>
          <p:cNvPr id="10" name="Text 7"/>
          <p:cNvSpPr/>
          <p:nvPr/>
        </p:nvSpPr>
        <p:spPr>
          <a:xfrm>
            <a:off x="571500" y="3370259"/>
            <a:ext cx="42472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损失函数替换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71500" y="3613147"/>
            <a:ext cx="4247294" cy="154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舍弃标准 CrossEntropy，采用 </a:t>
            </a:r>
            <a:r>
              <a:rPr lang="en-US" sz="780" dirty="0" err="1">
                <a:solidFill>
                  <a:srgbClr val="FF0000"/>
                </a:solidFill>
              </a:rPr>
              <a:t>TriangularCrossEntropyLoss</a:t>
            </a:r>
            <a:r>
              <a:rPr lang="en-US" sz="780" dirty="0">
                <a:solidFill>
                  <a:srgbClr val="FF0000"/>
                </a:solidFill>
              </a:rPr>
              <a:t> </a:t>
            </a:r>
            <a:r>
              <a:rPr lang="en-US" sz="888" dirty="0">
                <a:solidFill>
                  <a:srgbClr val="FF0000"/>
                </a:solidFill>
              </a:rPr>
              <a:t>，</a:t>
            </a:r>
            <a:r>
              <a:rPr lang="en-US" sz="888" dirty="0">
                <a:solidFill>
                  <a:srgbClr val="333333"/>
                </a:solidFill>
              </a:rPr>
              <a:t>强化对等级偏差的惩罚。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571500" y="4188889"/>
            <a:ext cx="42472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优化目标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71500" y="4431776"/>
            <a:ext cx="424729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不仅关注分类准确率，更关注预测分布与真实等级之间的距离拟合，使结果在等级轴上更集中。</a:t>
            </a:r>
            <a:endParaRPr lang="en-US" sz="888" dirty="0"/>
          </a:p>
        </p:txBody>
      </p:sp>
      <p:sp>
        <p:nvSpPr>
          <p:cNvPr id="15" name="Text 11"/>
          <p:cNvSpPr/>
          <p:nvPr/>
        </p:nvSpPr>
        <p:spPr>
          <a:xfrm>
            <a:off x="5529681" y="4883395"/>
            <a:ext cx="65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83" dirty="0"/>
          </a:p>
        </p:txBody>
      </p:sp>
      <p:sp>
        <p:nvSpPr>
          <p:cNvPr id="16" name="Text 12"/>
          <p:cNvSpPr/>
          <p:nvPr/>
        </p:nvSpPr>
        <p:spPr>
          <a:xfrm>
            <a:off x="8711133" y="4682728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06</a:t>
            </a:r>
            <a:endParaRPr lang="en-US" sz="8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5544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713231"/>
            <a:ext cx="857250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实验结果：MAE &lt; 0.01 的卓越表现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800100" y="1868732"/>
            <a:ext cx="20192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4500"/>
                </a:solidFill>
              </a:rPr>
              <a:t>Accuracy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800100" y="2150911"/>
            <a:ext cx="2019281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&gt; 98%</a:t>
            </a:r>
            <a:endParaRPr lang="en-US" sz="2862" dirty="0"/>
          </a:p>
        </p:txBody>
      </p:sp>
      <p:sp>
        <p:nvSpPr>
          <p:cNvPr id="8" name="Text 5"/>
          <p:cNvSpPr/>
          <p:nvPr/>
        </p:nvSpPr>
        <p:spPr>
          <a:xfrm>
            <a:off x="3562331" y="1868732"/>
            <a:ext cx="20193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4500"/>
                </a:solidFill>
              </a:rPr>
              <a:t>Val MAE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3562331" y="2150911"/>
            <a:ext cx="2019309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0.0164</a:t>
            </a:r>
            <a:endParaRPr lang="en-US" sz="2862" dirty="0"/>
          </a:p>
        </p:txBody>
      </p:sp>
      <p:sp>
        <p:nvSpPr>
          <p:cNvPr id="10" name="Text 7"/>
          <p:cNvSpPr/>
          <p:nvPr/>
        </p:nvSpPr>
        <p:spPr>
          <a:xfrm>
            <a:off x="6324591" y="1868732"/>
            <a:ext cx="20192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2" dirty="0">
                <a:solidFill>
                  <a:srgbClr val="FF4500"/>
                </a:solidFill>
              </a:rPr>
              <a:t>Convergence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6324591" y="2150911"/>
            <a:ext cx="2019281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Epoch 8</a:t>
            </a:r>
            <a:endParaRPr lang="en-US" sz="2862" dirty="0"/>
          </a:p>
        </p:txBody>
      </p:sp>
      <p:sp>
        <p:nvSpPr>
          <p:cNvPr id="12" name="Text 9"/>
          <p:cNvSpPr/>
          <p:nvPr/>
        </p:nvSpPr>
        <p:spPr>
          <a:xfrm>
            <a:off x="778669" y="3633239"/>
            <a:ext cx="357901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收敛表现与稳定性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778669" y="3931490"/>
            <a:ext cx="3579019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模型在学习率衰减后迅速达到稳定收敛状态。验证集 Loss 曲线平滑，未出现反弹现象，证明了训练策略的稳健性。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4993481" y="3633239"/>
            <a:ext cx="357901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结果解读与泛化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4993481" y="3931490"/>
            <a:ext cx="3579019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极低的 MAE 表明模型不仅分类准确，且对缺陷等级的预测具有极高的置信度。Soft Labelling 策略在抑制过拟合方面效果显著。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8711133" y="4682728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07</a:t>
            </a:r>
            <a:endParaRPr lang="en-US" sz="885" dirty="0"/>
          </a:p>
        </p:txBody>
      </p:sp>
      <p:pic>
        <p:nvPicPr>
          <p:cNvPr id="18" name="图片 17" descr="文本&#10;&#10;AI 生成的内容可能不正确。">
            <a:extLst>
              <a:ext uri="{FF2B5EF4-FFF2-40B4-BE49-F238E27FC236}">
                <a16:creationId xmlns:a16="http://schemas.microsoft.com/office/drawing/2014/main" id="{1FF7BB10-7D1D-B982-08B7-1A6813DB8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532" y="1121558"/>
            <a:ext cx="6691361" cy="2900384"/>
          </a:xfrm>
          <a:prstGeom prst="rect">
            <a:avLst/>
          </a:prstGeom>
        </p:spPr>
      </p:pic>
      <p:pic>
        <p:nvPicPr>
          <p:cNvPr id="20" name="图片 19" descr="文本&#10;&#10;AI 生成的内容可能不正确。">
            <a:extLst>
              <a:ext uri="{FF2B5EF4-FFF2-40B4-BE49-F238E27FC236}">
                <a16:creationId xmlns:a16="http://schemas.microsoft.com/office/drawing/2014/main" id="{28977E2A-320C-97A7-11BC-09F1DC6570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84" y="1397821"/>
            <a:ext cx="5900781" cy="25336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4896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689511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kern="0" spc="-1" dirty="0">
                <a:solidFill>
                  <a:srgbClr val="FF4500"/>
                </a:solidFill>
              </a:rPr>
              <a:t>理论前瞻：Vision Transformer (ViT) 的引入思考</a:t>
            </a:r>
            <a:endParaRPr lang="en-US" sz="2226" dirty="0"/>
          </a:p>
        </p:txBody>
      </p:sp>
      <p:sp>
        <p:nvSpPr>
          <p:cNvPr id="6" name="Shape 3"/>
          <p:cNvSpPr/>
          <p:nvPr/>
        </p:nvSpPr>
        <p:spPr>
          <a:xfrm>
            <a:off x="559292" y="1348482"/>
            <a:ext cx="4286250" cy="3313221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03899"/>
            <a:ext cx="4286250" cy="2286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24242" y="3875624"/>
            <a:ext cx="238076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2" dirty="0">
                <a:solidFill>
                  <a:srgbClr val="FF4500"/>
                </a:solidFill>
              </a:rPr>
              <a:t>Vision Transformer (ViT) 核心架构示意</a:t>
            </a:r>
            <a:endParaRPr lang="en-US" sz="727" dirty="0"/>
          </a:p>
        </p:txBody>
      </p:sp>
      <p:sp>
        <p:nvSpPr>
          <p:cNvPr id="9" name="Text 5"/>
          <p:cNvSpPr/>
          <p:nvPr/>
        </p:nvSpPr>
        <p:spPr>
          <a:xfrm>
            <a:off x="5143500" y="1432461"/>
            <a:ext cx="3429000" cy="20716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核心机制与优势</a:t>
            </a:r>
            <a:endParaRPr lang="en-US" sz="987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768218"/>
            <a:ext cx="75009" cy="857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04234" y="1725355"/>
            <a:ext cx="3268266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E5E5E5"/>
                </a:solidFill>
              </a:rPr>
              <a:t>将图像分割为 Patch 序列，利用 Self-Attention 机制捕捉全局长距离依赖。</a:t>
            </a:r>
            <a:endParaRPr lang="en-US" sz="888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2213976"/>
            <a:ext cx="75009" cy="857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04234" y="2171114"/>
            <a:ext cx="3239160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E5E5E5"/>
                </a:solidFill>
              </a:rPr>
              <a:t>打破 CNN 的局部感受野限制，实现对整幅图像的宏观建模。</a:t>
            </a:r>
            <a:endParaRPr lang="en-US" sz="888" dirty="0"/>
          </a:p>
        </p:txBody>
      </p:sp>
      <p:sp>
        <p:nvSpPr>
          <p:cNvPr id="14" name="Text 8"/>
          <p:cNvSpPr/>
          <p:nvPr/>
        </p:nvSpPr>
        <p:spPr>
          <a:xfrm>
            <a:off x="5143500" y="2536868"/>
            <a:ext cx="3429000" cy="20716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CNN vs. ViT 对比</a:t>
            </a:r>
            <a:endParaRPr lang="en-US" sz="987" dirty="0"/>
          </a:p>
        </p:txBody>
      </p:sp>
      <p:sp>
        <p:nvSpPr>
          <p:cNvPr id="15" name="Shape 9"/>
          <p:cNvSpPr/>
          <p:nvPr/>
        </p:nvSpPr>
        <p:spPr>
          <a:xfrm>
            <a:off x="5143500" y="2829762"/>
            <a:ext cx="308297" cy="165729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6" name="Text 10"/>
          <p:cNvSpPr/>
          <p:nvPr/>
        </p:nvSpPr>
        <p:spPr>
          <a:xfrm>
            <a:off x="5143500" y="2829762"/>
            <a:ext cx="308297" cy="165729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CNN</a:t>
            </a:r>
            <a:endParaRPr lang="en-US" sz="584" dirty="0"/>
          </a:p>
        </p:txBody>
      </p:sp>
      <p:sp>
        <p:nvSpPr>
          <p:cNvPr id="17" name="Text 11"/>
          <p:cNvSpPr/>
          <p:nvPr/>
        </p:nvSpPr>
        <p:spPr>
          <a:xfrm>
            <a:off x="5508947" y="2829762"/>
            <a:ext cx="3063553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E5E5E5"/>
                </a:solidFill>
              </a:rPr>
              <a:t>归纳偏置强，擅长提取局部纹理，适合目前的细微裂缝检测。</a:t>
            </a:r>
            <a:endParaRPr lang="en-US" sz="888" dirty="0"/>
          </a:p>
        </p:txBody>
      </p:sp>
      <p:sp>
        <p:nvSpPr>
          <p:cNvPr id="18" name="Shape 12"/>
          <p:cNvSpPr/>
          <p:nvPr/>
        </p:nvSpPr>
        <p:spPr>
          <a:xfrm>
            <a:off x="5143500" y="3275521"/>
            <a:ext cx="253017" cy="165729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9" name="Text 13"/>
          <p:cNvSpPr/>
          <p:nvPr/>
        </p:nvSpPr>
        <p:spPr>
          <a:xfrm>
            <a:off x="5143500" y="3275521"/>
            <a:ext cx="253017" cy="165729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ViT</a:t>
            </a:r>
            <a:endParaRPr lang="en-US" sz="584" dirty="0"/>
          </a:p>
        </p:txBody>
      </p:sp>
      <p:sp>
        <p:nvSpPr>
          <p:cNvPr id="20" name="Text 14"/>
          <p:cNvSpPr/>
          <p:nvPr/>
        </p:nvSpPr>
        <p:spPr>
          <a:xfrm>
            <a:off x="5453667" y="3275521"/>
            <a:ext cx="3118833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E5E5E5"/>
                </a:solidFill>
              </a:rPr>
              <a:t>感受野全局化，适合捕捉贯穿整张长条形钢板的宏观缺陷特征。</a:t>
            </a:r>
            <a:endParaRPr lang="en-US" sz="888" dirty="0"/>
          </a:p>
        </p:txBody>
      </p:sp>
      <p:sp>
        <p:nvSpPr>
          <p:cNvPr id="21" name="Text 15"/>
          <p:cNvSpPr/>
          <p:nvPr/>
        </p:nvSpPr>
        <p:spPr>
          <a:xfrm>
            <a:off x="5143500" y="3835580"/>
            <a:ext cx="3429000" cy="20716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未来应用探索</a:t>
            </a:r>
            <a:endParaRPr lang="en-US" sz="987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4171336"/>
            <a:ext cx="75009" cy="857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04234" y="4128474"/>
            <a:ext cx="3231152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E5E5E5"/>
                </a:solidFill>
              </a:rPr>
              <a:t>探索 CNN 与 ViT 的混合架构，兼顾局部细节与全局上下文。</a:t>
            </a:r>
            <a:endParaRPr lang="en-US" sz="888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4422791"/>
            <a:ext cx="75009" cy="857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04234" y="4379928"/>
            <a:ext cx="2906641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E5E5E5"/>
                </a:solidFill>
              </a:rPr>
              <a:t>研究 ViT 在小样本工业数据集上的预训练与微调策略。</a:t>
            </a:r>
            <a:endParaRPr lang="en-US" sz="888" dirty="0"/>
          </a:p>
        </p:txBody>
      </p:sp>
      <p:sp>
        <p:nvSpPr>
          <p:cNvPr id="26" name="Text 18"/>
          <p:cNvSpPr/>
          <p:nvPr/>
        </p:nvSpPr>
        <p:spPr>
          <a:xfrm>
            <a:off x="8711133" y="4682728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08</a:t>
            </a:r>
            <a:endParaRPr lang="en-US" sz="8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5544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713231"/>
            <a:ext cx="1562287" cy="38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 err="1">
                <a:solidFill>
                  <a:srgbClr val="E5E5E5"/>
                </a:solidFill>
              </a:rPr>
              <a:t>总结与展望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497257"/>
            <a:ext cx="3714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2" dirty="0">
                <a:solidFill>
                  <a:srgbClr val="FF4500"/>
                </a:solidFill>
              </a:rPr>
              <a:t>This Week Summary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571500" y="1890164"/>
            <a:ext cx="37147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Baseline 建立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71500" y="2174128"/>
            <a:ext cx="3714750" cy="343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CCCCCC"/>
                </a:solidFill>
              </a:rPr>
              <a:t>成功验证了 </a:t>
            </a:r>
            <a:r>
              <a:rPr lang="en-US" sz="888" dirty="0" err="1">
                <a:solidFill>
                  <a:srgbClr val="CCCCCC"/>
                </a:solidFill>
              </a:rPr>
              <a:t>dlordinal</a:t>
            </a:r>
            <a:r>
              <a:rPr lang="en-US" sz="888" dirty="0">
                <a:solidFill>
                  <a:srgbClr val="CCCCCC"/>
                </a:solidFill>
              </a:rPr>
              <a:t> </a:t>
            </a:r>
            <a:r>
              <a:rPr lang="en-US" sz="888" dirty="0" err="1">
                <a:solidFill>
                  <a:srgbClr val="CCCCCC"/>
                </a:solidFill>
              </a:rPr>
              <a:t>库在工业缺陷分级任务中的有效性，建立了完整的有序回归</a:t>
            </a:r>
            <a:r>
              <a:rPr lang="en-US" sz="888" dirty="0">
                <a:solidFill>
                  <a:srgbClr val="CCCCCC"/>
                </a:solidFill>
              </a:rPr>
              <a:t> </a:t>
            </a:r>
            <a:r>
              <a:rPr lang="zh-CN" altLang="en-US" sz="888" dirty="0">
                <a:solidFill>
                  <a:srgbClr val="CCCCCC"/>
                </a:solidFill>
              </a:rPr>
              <a:t>方法</a:t>
            </a:r>
            <a:r>
              <a:rPr lang="en-US" sz="888" dirty="0">
                <a:solidFill>
                  <a:srgbClr val="CCCCCC"/>
                </a:solidFill>
              </a:rPr>
              <a:t>。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4857750" y="1497257"/>
            <a:ext cx="65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857750" y="1890164"/>
            <a:ext cx="836768" cy="1815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090" b="1" dirty="0" err="1">
                <a:solidFill>
                  <a:srgbClr val="FF4500"/>
                </a:solidFill>
              </a:rPr>
              <a:t>模型对比实验</a:t>
            </a:r>
            <a:endParaRPr lang="en-US" altLang="zh-CN" sz="1090" dirty="0"/>
          </a:p>
        </p:txBody>
      </p:sp>
      <p:sp>
        <p:nvSpPr>
          <p:cNvPr id="13" name="Text 10"/>
          <p:cNvSpPr/>
          <p:nvPr/>
        </p:nvSpPr>
        <p:spPr>
          <a:xfrm>
            <a:off x="4857750" y="2174128"/>
            <a:ext cx="3714750" cy="164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888" dirty="0" err="1">
                <a:solidFill>
                  <a:srgbClr val="CCCCCC"/>
                </a:solidFill>
              </a:rPr>
              <a:t>测试从零训练与迁移学习的效果差异</a:t>
            </a:r>
            <a:r>
              <a:rPr lang="en-US" altLang="zh-CN" sz="888" dirty="0">
                <a:solidFill>
                  <a:srgbClr val="CCCCCC"/>
                </a:solidFill>
              </a:rPr>
              <a:t>，</a:t>
            </a:r>
            <a:endParaRPr lang="en-US" altLang="zh-CN" sz="888" dirty="0"/>
          </a:p>
        </p:txBody>
      </p:sp>
      <p:sp>
        <p:nvSpPr>
          <p:cNvPr id="14" name="Text 11"/>
          <p:cNvSpPr/>
          <p:nvPr/>
        </p:nvSpPr>
        <p:spPr>
          <a:xfrm>
            <a:off x="4857750" y="2831353"/>
            <a:ext cx="65" cy="181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4857750" y="3115317"/>
            <a:ext cx="3714750" cy="164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571500" y="4722019"/>
            <a:ext cx="21750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4" dirty="0">
                <a:solidFill>
                  <a:srgbClr val="333333"/>
                </a:solidFill>
              </a:rPr>
              <a:t>END OF REPORT / JAN 2026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8711133" y="4682728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09</a:t>
            </a: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368</Words>
  <Application>Microsoft Office PowerPoint</Application>
  <PresentationFormat>全屏显示(16:9)</PresentationFormat>
  <Paragraphs>88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yunhe li</cp:lastModifiedBy>
  <cp:revision>2</cp:revision>
  <dcterms:created xsi:type="dcterms:W3CDTF">2026-01-30T04:24:58Z</dcterms:created>
  <dcterms:modified xsi:type="dcterms:W3CDTF">2026-01-30T05:39:03Z</dcterms:modified>
</cp:coreProperties>
</file>